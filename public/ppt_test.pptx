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7"/>
  </p:notesMasterIdLst>
  <p:sldIdLst>
    <p:sldId id="256" r:id="rId5"/>
    <p:sldId id="311" r:id="rId6"/>
    <p:sldId id="297" r:id="rId7"/>
    <p:sldId id="298" r:id="rId8"/>
    <p:sldId id="299" r:id="rId9"/>
    <p:sldId id="300" r:id="rId10"/>
    <p:sldId id="2147483636" r:id="rId11"/>
    <p:sldId id="2147483638" r:id="rId12"/>
    <p:sldId id="273" r:id="rId13"/>
    <p:sldId id="274" r:id="rId14"/>
    <p:sldId id="278" r:id="rId15"/>
    <p:sldId id="275" r:id="rId16"/>
    <p:sldId id="2147483642" r:id="rId17"/>
    <p:sldId id="2147483643" r:id="rId18"/>
    <p:sldId id="2147483646" r:id="rId19"/>
    <p:sldId id="2147483647" r:id="rId20"/>
    <p:sldId id="259" r:id="rId21"/>
    <p:sldId id="258" r:id="rId22"/>
    <p:sldId id="2147483637" r:id="rId23"/>
    <p:sldId id="287" r:id="rId24"/>
    <p:sldId id="280" r:id="rId25"/>
    <p:sldId id="279" r:id="rId26"/>
    <p:sldId id="288" r:id="rId27"/>
    <p:sldId id="285" r:id="rId28"/>
    <p:sldId id="286" r:id="rId29"/>
    <p:sldId id="291" r:id="rId30"/>
    <p:sldId id="289" r:id="rId31"/>
    <p:sldId id="290" r:id="rId32"/>
    <p:sldId id="292" r:id="rId33"/>
    <p:sldId id="281" r:id="rId34"/>
    <p:sldId id="282" r:id="rId35"/>
    <p:sldId id="312" r:id="rId36"/>
  </p:sldIdLst>
  <p:sldSz cx="12192000" cy="6858000"/>
  <p:notesSz cx="6805613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B306488-6D90-4280-B2EB-C4DBAEAB1F44}">
          <p14:sldIdLst>
            <p14:sldId id="256"/>
            <p14:sldId id="311"/>
          </p14:sldIdLst>
        </p14:section>
        <p14:section name="CJV" id="{6899C119-0FF7-4EC6-863C-59ABFA86CA51}">
          <p14:sldIdLst>
            <p14:sldId id="297"/>
            <p14:sldId id="298"/>
            <p14:sldId id="299"/>
            <p14:sldId id="300"/>
          </p14:sldIdLst>
        </p14:section>
        <p14:section name="Digitalization" id="{D9C19083-F604-4495-887C-B2506DF1B0F9}">
          <p14:sldIdLst>
            <p14:sldId id="2147483636"/>
            <p14:sldId id="2147483638"/>
            <p14:sldId id="273"/>
            <p14:sldId id="274"/>
          </p14:sldIdLst>
        </p14:section>
        <p14:section name="Partnership" id="{C6C876C9-6DA8-4C33-A0CC-BFCBE0C3DA2A}">
          <p14:sldIdLst>
            <p14:sldId id="278"/>
            <p14:sldId id="275"/>
          </p14:sldIdLst>
        </p14:section>
        <p14:section name="CC" id="{BF06919E-CF1B-4755-A767-5D857B9390DD}">
          <p14:sldIdLst>
            <p14:sldId id="2147483642"/>
            <p14:sldId id="2147483643"/>
            <p14:sldId id="2147483646"/>
            <p14:sldId id="2147483647"/>
            <p14:sldId id="259"/>
            <p14:sldId id="258"/>
            <p14:sldId id="2147483637"/>
          </p14:sldIdLst>
        </p14:section>
        <p14:section name="Cricket" id="{5A0715D7-FBF3-44B2-90AF-846F66F30A12}">
          <p14:sldIdLst>
            <p14:sldId id="287"/>
            <p14:sldId id="280"/>
            <p14:sldId id="279"/>
          </p14:sldIdLst>
        </p14:section>
        <p14:section name="Private Label" id="{E623120B-937F-4A84-9EC5-4413696A8092}">
          <p14:sldIdLst>
            <p14:sldId id="288"/>
            <p14:sldId id="285"/>
            <p14:sldId id="286"/>
            <p14:sldId id="291"/>
            <p14:sldId id="289"/>
            <p14:sldId id="290"/>
            <p14:sldId id="292"/>
            <p14:sldId id="281"/>
            <p14:sldId id="282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F5597"/>
    <a:srgbClr val="F7F7F7"/>
    <a:srgbClr val="00B0F0"/>
    <a:srgbClr val="0070C0"/>
    <a:srgbClr val="4C9BD3"/>
    <a:srgbClr val="6FC4E9"/>
    <a:srgbClr val="EAE6E8"/>
    <a:srgbClr val="B9B9B9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CDBDCA-8A53-4605-92BB-9A340CFA4732}" v="2" dt="2025-01-30T06:54:18.5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ssandra, Jessica" userId="8e3ce6a6-2130-4018-91ce-d850b7251b29" providerId="ADAL" clId="{E9CDBDCA-8A53-4605-92BB-9A340CFA4732}"/>
    <pc:docChg chg="custSel modSld">
      <pc:chgData name="Cassandra, Jessica" userId="8e3ce6a6-2130-4018-91ce-d850b7251b29" providerId="ADAL" clId="{E9CDBDCA-8A53-4605-92BB-9A340CFA4732}" dt="2025-01-30T06:54:21.040" v="3" actId="1076"/>
      <pc:docMkLst>
        <pc:docMk/>
      </pc:docMkLst>
      <pc:sldChg chg="addSp delSp modSp mod">
        <pc:chgData name="Cassandra, Jessica" userId="8e3ce6a6-2130-4018-91ce-d850b7251b29" providerId="ADAL" clId="{E9CDBDCA-8A53-4605-92BB-9A340CFA4732}" dt="2025-01-30T06:54:21.040" v="3" actId="1076"/>
        <pc:sldMkLst>
          <pc:docMk/>
          <pc:sldMk cId="4266805753" sldId="311"/>
        </pc:sldMkLst>
        <pc:graphicFrameChg chg="add mod">
          <ac:chgData name="Cassandra, Jessica" userId="8e3ce6a6-2130-4018-91ce-d850b7251b29" providerId="ADAL" clId="{E9CDBDCA-8A53-4605-92BB-9A340CFA4732}" dt="2025-01-30T06:54:21.040" v="3" actId="1076"/>
          <ac:graphicFrameMkLst>
            <pc:docMk/>
            <pc:sldMk cId="4266805753" sldId="311"/>
            <ac:graphicFrameMk id="6" creationId="{336ED5F7-5017-502A-EE3F-E39225B92077}"/>
          </ac:graphicFrameMkLst>
        </pc:graphicFrameChg>
        <pc:graphicFrameChg chg="del">
          <ac:chgData name="Cassandra, Jessica" userId="8e3ce6a6-2130-4018-91ce-d850b7251b29" providerId="ADAL" clId="{E9CDBDCA-8A53-4605-92BB-9A340CFA4732}" dt="2025-01-30T06:53:49.417" v="0" actId="478"/>
          <ac:graphicFrameMkLst>
            <pc:docMk/>
            <pc:sldMk cId="4266805753" sldId="311"/>
            <ac:graphicFrameMk id="8" creationId="{8C7A23FD-35C5-801E-4CB4-B1D349B4B771}"/>
          </ac:graphicFrameMkLst>
        </pc:graphicFrameChg>
      </pc:sldChg>
    </pc:docChg>
  </pc:docChgLst>
  <pc:docChgLst>
    <pc:chgData name="Cassandra, Jessica" userId="8e3ce6a6-2130-4018-91ce-d850b7251b29" providerId="ADAL" clId="{D5D4477A-32BB-47D3-9865-4E1153C5F155}"/>
    <pc:docChg chg="custSel delSld modSld delSection modSection">
      <pc:chgData name="Cassandra, Jessica" userId="8e3ce6a6-2130-4018-91ce-d850b7251b29" providerId="ADAL" clId="{D5D4477A-32BB-47D3-9865-4E1153C5F155}" dt="2025-01-23T11:15:32.248" v="54" actId="1076"/>
      <pc:docMkLst>
        <pc:docMk/>
      </pc:docMkLst>
      <pc:sldChg chg="modSp mod">
        <pc:chgData name="Cassandra, Jessica" userId="8e3ce6a6-2130-4018-91ce-d850b7251b29" providerId="ADAL" clId="{D5D4477A-32BB-47D3-9865-4E1153C5F155}" dt="2025-01-23T10:59:58.551" v="28" actId="1035"/>
        <pc:sldMkLst>
          <pc:docMk/>
          <pc:sldMk cId="156357441" sldId="256"/>
        </pc:sldMkLst>
        <pc:spChg chg="mod">
          <ac:chgData name="Cassandra, Jessica" userId="8e3ce6a6-2130-4018-91ce-d850b7251b29" providerId="ADAL" clId="{D5D4477A-32BB-47D3-9865-4E1153C5F155}" dt="2025-01-23T10:59:58.551" v="28" actId="1035"/>
          <ac:spMkLst>
            <pc:docMk/>
            <pc:sldMk cId="156357441" sldId="256"/>
            <ac:spMk id="8" creationId="{2D2AAE24-E6AF-2C4D-6F6B-0ACACE538969}"/>
          </ac:spMkLst>
        </pc:spChg>
      </pc:sldChg>
      <pc:sldChg chg="del">
        <pc:chgData name="Cassandra, Jessica" userId="8e3ce6a6-2130-4018-91ce-d850b7251b29" providerId="ADAL" clId="{D5D4477A-32BB-47D3-9865-4E1153C5F155}" dt="2025-01-23T11:00:14.137" v="31" actId="18676"/>
        <pc:sldMkLst>
          <pc:docMk/>
          <pc:sldMk cId="2151941813" sldId="257"/>
        </pc:sldMkLst>
      </pc:sldChg>
      <pc:sldChg chg="del">
        <pc:chgData name="Cassandra, Jessica" userId="8e3ce6a6-2130-4018-91ce-d850b7251b29" providerId="ADAL" clId="{D5D4477A-32BB-47D3-9865-4E1153C5F155}" dt="2025-01-23T11:00:14.137" v="31" actId="18676"/>
        <pc:sldMkLst>
          <pc:docMk/>
          <pc:sldMk cId="2882909300" sldId="260"/>
        </pc:sldMkLst>
      </pc:sldChg>
      <pc:sldChg chg="del">
        <pc:chgData name="Cassandra, Jessica" userId="8e3ce6a6-2130-4018-91ce-d850b7251b29" providerId="ADAL" clId="{D5D4477A-32BB-47D3-9865-4E1153C5F155}" dt="2025-01-23T11:00:14.137" v="31" actId="18676"/>
        <pc:sldMkLst>
          <pc:docMk/>
          <pc:sldMk cId="3862944066" sldId="261"/>
        </pc:sldMkLst>
      </pc:sldChg>
      <pc:sldChg chg="del">
        <pc:chgData name="Cassandra, Jessica" userId="8e3ce6a6-2130-4018-91ce-d850b7251b29" providerId="ADAL" clId="{D5D4477A-32BB-47D3-9865-4E1153C5F155}" dt="2025-01-23T11:00:17.181" v="32" actId="18676"/>
        <pc:sldMkLst>
          <pc:docMk/>
          <pc:sldMk cId="4044115496" sldId="262"/>
        </pc:sldMkLst>
      </pc:sldChg>
      <pc:sldChg chg="del">
        <pc:chgData name="Cassandra, Jessica" userId="8e3ce6a6-2130-4018-91ce-d850b7251b29" providerId="ADAL" clId="{D5D4477A-32BB-47D3-9865-4E1153C5F155}" dt="2025-01-23T11:00:17.181" v="32" actId="18676"/>
        <pc:sldMkLst>
          <pc:docMk/>
          <pc:sldMk cId="1402725913" sldId="263"/>
        </pc:sldMkLst>
      </pc:sldChg>
      <pc:sldChg chg="del">
        <pc:chgData name="Cassandra, Jessica" userId="8e3ce6a6-2130-4018-91ce-d850b7251b29" providerId="ADAL" clId="{D5D4477A-32BB-47D3-9865-4E1153C5F155}" dt="2025-01-23T11:00:17.181" v="32" actId="18676"/>
        <pc:sldMkLst>
          <pc:docMk/>
          <pc:sldMk cId="2164855100" sldId="264"/>
        </pc:sldMkLst>
      </pc:sldChg>
      <pc:sldChg chg="del">
        <pc:chgData name="Cassandra, Jessica" userId="8e3ce6a6-2130-4018-91ce-d850b7251b29" providerId="ADAL" clId="{D5D4477A-32BB-47D3-9865-4E1153C5F155}" dt="2025-01-23T11:00:17.181" v="32" actId="18676"/>
        <pc:sldMkLst>
          <pc:docMk/>
          <pc:sldMk cId="1934393226" sldId="265"/>
        </pc:sldMkLst>
      </pc:sldChg>
      <pc:sldChg chg="del">
        <pc:chgData name="Cassandra, Jessica" userId="8e3ce6a6-2130-4018-91ce-d850b7251b29" providerId="ADAL" clId="{D5D4477A-32BB-47D3-9865-4E1153C5F155}" dt="2025-01-23T11:00:20.450" v="33" actId="18676"/>
        <pc:sldMkLst>
          <pc:docMk/>
          <pc:sldMk cId="4129285787" sldId="266"/>
        </pc:sldMkLst>
      </pc:sldChg>
      <pc:sldChg chg="del">
        <pc:chgData name="Cassandra, Jessica" userId="8e3ce6a6-2130-4018-91ce-d850b7251b29" providerId="ADAL" clId="{D5D4477A-32BB-47D3-9865-4E1153C5F155}" dt="2025-01-23T11:00:20.450" v="33" actId="18676"/>
        <pc:sldMkLst>
          <pc:docMk/>
          <pc:sldMk cId="645260726" sldId="267"/>
        </pc:sldMkLst>
      </pc:sldChg>
      <pc:sldChg chg="del">
        <pc:chgData name="Cassandra, Jessica" userId="8e3ce6a6-2130-4018-91ce-d850b7251b29" providerId="ADAL" clId="{D5D4477A-32BB-47D3-9865-4E1153C5F155}" dt="2025-01-23T11:00:20.450" v="33" actId="18676"/>
        <pc:sldMkLst>
          <pc:docMk/>
          <pc:sldMk cId="779414698" sldId="268"/>
        </pc:sldMkLst>
      </pc:sldChg>
      <pc:sldChg chg="del">
        <pc:chgData name="Cassandra, Jessica" userId="8e3ce6a6-2130-4018-91ce-d850b7251b29" providerId="ADAL" clId="{D5D4477A-32BB-47D3-9865-4E1153C5F155}" dt="2025-01-23T11:00:20.450" v="33" actId="18676"/>
        <pc:sldMkLst>
          <pc:docMk/>
          <pc:sldMk cId="2332760431" sldId="269"/>
        </pc:sldMkLst>
      </pc:sldChg>
      <pc:sldChg chg="del">
        <pc:chgData name="Cassandra, Jessica" userId="8e3ce6a6-2130-4018-91ce-d850b7251b29" providerId="ADAL" clId="{D5D4477A-32BB-47D3-9865-4E1153C5F155}" dt="2025-01-23T11:00:22.335" v="34" actId="18676"/>
        <pc:sldMkLst>
          <pc:docMk/>
          <pc:sldMk cId="2810813169" sldId="270"/>
        </pc:sldMkLst>
      </pc:sldChg>
      <pc:sldChg chg="del">
        <pc:chgData name="Cassandra, Jessica" userId="8e3ce6a6-2130-4018-91ce-d850b7251b29" providerId="ADAL" clId="{D5D4477A-32BB-47D3-9865-4E1153C5F155}" dt="2025-01-23T11:00:22.335" v="34" actId="18676"/>
        <pc:sldMkLst>
          <pc:docMk/>
          <pc:sldMk cId="4283514993" sldId="271"/>
        </pc:sldMkLst>
      </pc:sldChg>
      <pc:sldChg chg="del">
        <pc:chgData name="Cassandra, Jessica" userId="8e3ce6a6-2130-4018-91ce-d850b7251b29" providerId="ADAL" clId="{D5D4477A-32BB-47D3-9865-4E1153C5F155}" dt="2025-01-23T11:00:22.335" v="34" actId="18676"/>
        <pc:sldMkLst>
          <pc:docMk/>
          <pc:sldMk cId="4013933598" sldId="272"/>
        </pc:sldMkLst>
      </pc:sldChg>
      <pc:sldChg chg="del">
        <pc:chgData name="Cassandra, Jessica" userId="8e3ce6a6-2130-4018-91ce-d850b7251b29" providerId="ADAL" clId="{D5D4477A-32BB-47D3-9865-4E1153C5F155}" dt="2025-01-23T11:01:00.046" v="37" actId="47"/>
        <pc:sldMkLst>
          <pc:docMk/>
          <pc:sldMk cId="1301564439" sldId="276"/>
        </pc:sldMkLst>
      </pc:sldChg>
      <pc:sldChg chg="del">
        <pc:chgData name="Cassandra, Jessica" userId="8e3ce6a6-2130-4018-91ce-d850b7251b29" providerId="ADAL" clId="{D5D4477A-32BB-47D3-9865-4E1153C5F155}" dt="2025-01-23T11:01:02.979" v="38" actId="47"/>
        <pc:sldMkLst>
          <pc:docMk/>
          <pc:sldMk cId="4177520197" sldId="277"/>
        </pc:sldMkLst>
      </pc:sldChg>
      <pc:sldChg chg="del">
        <pc:chgData name="Cassandra, Jessica" userId="8e3ce6a6-2130-4018-91ce-d850b7251b29" providerId="ADAL" clId="{D5D4477A-32BB-47D3-9865-4E1153C5F155}" dt="2025-01-23T11:01:11.486" v="40" actId="47"/>
        <pc:sldMkLst>
          <pc:docMk/>
          <pc:sldMk cId="3681919977" sldId="283"/>
        </pc:sldMkLst>
      </pc:sldChg>
      <pc:sldChg chg="del">
        <pc:chgData name="Cassandra, Jessica" userId="8e3ce6a6-2130-4018-91ce-d850b7251b29" providerId="ADAL" clId="{D5D4477A-32BB-47D3-9865-4E1153C5F155}" dt="2025-01-23T11:01:10.852" v="39" actId="47"/>
        <pc:sldMkLst>
          <pc:docMk/>
          <pc:sldMk cId="3742271427" sldId="284"/>
        </pc:sldMkLst>
      </pc:sldChg>
      <pc:sldChg chg="del">
        <pc:chgData name="Cassandra, Jessica" userId="8e3ce6a6-2130-4018-91ce-d850b7251b29" providerId="ADAL" clId="{D5D4477A-32BB-47D3-9865-4E1153C5F155}" dt="2025-01-23T11:00:11.359" v="30" actId="47"/>
        <pc:sldMkLst>
          <pc:docMk/>
          <pc:sldMk cId="3994386604" sldId="293"/>
        </pc:sldMkLst>
      </pc:sldChg>
      <pc:sldChg chg="del">
        <pc:chgData name="Cassandra, Jessica" userId="8e3ce6a6-2130-4018-91ce-d850b7251b29" providerId="ADAL" clId="{D5D4477A-32BB-47D3-9865-4E1153C5F155}" dt="2025-01-23T11:00:11.359" v="30" actId="47"/>
        <pc:sldMkLst>
          <pc:docMk/>
          <pc:sldMk cId="1033919538" sldId="294"/>
        </pc:sldMkLst>
      </pc:sldChg>
      <pc:sldChg chg="del">
        <pc:chgData name="Cassandra, Jessica" userId="8e3ce6a6-2130-4018-91ce-d850b7251b29" providerId="ADAL" clId="{D5D4477A-32BB-47D3-9865-4E1153C5F155}" dt="2025-01-23T11:00:14.137" v="31" actId="18676"/>
        <pc:sldMkLst>
          <pc:docMk/>
          <pc:sldMk cId="3189622943" sldId="295"/>
        </pc:sldMkLst>
      </pc:sldChg>
      <pc:sldChg chg="del">
        <pc:chgData name="Cassandra, Jessica" userId="8e3ce6a6-2130-4018-91ce-d850b7251b29" providerId="ADAL" clId="{D5D4477A-32BB-47D3-9865-4E1153C5F155}" dt="2025-01-23T11:00:22.335" v="34" actId="18676"/>
        <pc:sldMkLst>
          <pc:docMk/>
          <pc:sldMk cId="1351749342" sldId="296"/>
        </pc:sldMkLst>
      </pc:sldChg>
      <pc:sldChg chg="del">
        <pc:chgData name="Cassandra, Jessica" userId="8e3ce6a6-2130-4018-91ce-d850b7251b29" providerId="ADAL" clId="{D5D4477A-32BB-47D3-9865-4E1153C5F155}" dt="2025-01-23T11:00:37.706" v="35" actId="18676"/>
        <pc:sldMkLst>
          <pc:docMk/>
          <pc:sldMk cId="3505980683" sldId="301"/>
        </pc:sldMkLst>
      </pc:sldChg>
      <pc:sldChg chg="del">
        <pc:chgData name="Cassandra, Jessica" userId="8e3ce6a6-2130-4018-91ce-d850b7251b29" providerId="ADAL" clId="{D5D4477A-32BB-47D3-9865-4E1153C5F155}" dt="2025-01-23T11:00:37.706" v="35" actId="18676"/>
        <pc:sldMkLst>
          <pc:docMk/>
          <pc:sldMk cId="1604416966" sldId="302"/>
        </pc:sldMkLst>
      </pc:sldChg>
      <pc:sldChg chg="del">
        <pc:chgData name="Cassandra, Jessica" userId="8e3ce6a6-2130-4018-91ce-d850b7251b29" providerId="ADAL" clId="{D5D4477A-32BB-47D3-9865-4E1153C5F155}" dt="2025-01-23T11:00:37.706" v="35" actId="18676"/>
        <pc:sldMkLst>
          <pc:docMk/>
          <pc:sldMk cId="893247045" sldId="303"/>
        </pc:sldMkLst>
      </pc:sldChg>
      <pc:sldChg chg="del">
        <pc:chgData name="Cassandra, Jessica" userId="8e3ce6a6-2130-4018-91ce-d850b7251b29" providerId="ADAL" clId="{D5D4477A-32BB-47D3-9865-4E1153C5F155}" dt="2025-01-23T11:00:37.706" v="35" actId="18676"/>
        <pc:sldMkLst>
          <pc:docMk/>
          <pc:sldMk cId="1580406933" sldId="304"/>
        </pc:sldMkLst>
      </pc:sldChg>
      <pc:sldChg chg="del">
        <pc:chgData name="Cassandra, Jessica" userId="8e3ce6a6-2130-4018-91ce-d850b7251b29" providerId="ADAL" clId="{D5D4477A-32BB-47D3-9865-4E1153C5F155}" dt="2025-01-23T11:00:42.401" v="36" actId="18676"/>
        <pc:sldMkLst>
          <pc:docMk/>
          <pc:sldMk cId="2678770143" sldId="305"/>
        </pc:sldMkLst>
      </pc:sldChg>
      <pc:sldChg chg="del">
        <pc:chgData name="Cassandra, Jessica" userId="8e3ce6a6-2130-4018-91ce-d850b7251b29" providerId="ADAL" clId="{D5D4477A-32BB-47D3-9865-4E1153C5F155}" dt="2025-01-23T11:00:42.401" v="36" actId="18676"/>
        <pc:sldMkLst>
          <pc:docMk/>
          <pc:sldMk cId="2469995454" sldId="306"/>
        </pc:sldMkLst>
      </pc:sldChg>
      <pc:sldChg chg="del">
        <pc:chgData name="Cassandra, Jessica" userId="8e3ce6a6-2130-4018-91ce-d850b7251b29" providerId="ADAL" clId="{D5D4477A-32BB-47D3-9865-4E1153C5F155}" dt="2025-01-23T11:00:42.401" v="36" actId="18676"/>
        <pc:sldMkLst>
          <pc:docMk/>
          <pc:sldMk cId="1530086474" sldId="307"/>
        </pc:sldMkLst>
      </pc:sldChg>
      <pc:sldChg chg="del">
        <pc:chgData name="Cassandra, Jessica" userId="8e3ce6a6-2130-4018-91ce-d850b7251b29" providerId="ADAL" clId="{D5D4477A-32BB-47D3-9865-4E1153C5F155}" dt="2025-01-23T11:00:42.401" v="36" actId="18676"/>
        <pc:sldMkLst>
          <pc:docMk/>
          <pc:sldMk cId="2409467210" sldId="308"/>
        </pc:sldMkLst>
      </pc:sldChg>
      <pc:sldChg chg="addSp delSp modSp mod">
        <pc:chgData name="Cassandra, Jessica" userId="8e3ce6a6-2130-4018-91ce-d850b7251b29" providerId="ADAL" clId="{D5D4477A-32BB-47D3-9865-4E1153C5F155}" dt="2025-01-23T11:15:32.248" v="54" actId="1076"/>
        <pc:sldMkLst>
          <pc:docMk/>
          <pc:sldMk cId="4266805753" sldId="311"/>
        </pc:sldMkLst>
        <pc:spChg chg="add mod">
          <ac:chgData name="Cassandra, Jessica" userId="8e3ce6a6-2130-4018-91ce-d850b7251b29" providerId="ADAL" clId="{D5D4477A-32BB-47D3-9865-4E1153C5F155}" dt="2025-01-23T11:00:05.894" v="29"/>
          <ac:spMkLst>
            <pc:docMk/>
            <pc:sldMk cId="4266805753" sldId="311"/>
            <ac:spMk id="3" creationId="{9166962C-2109-C31E-D6EE-24717611CE8E}"/>
          </ac:spMkLst>
        </pc:spChg>
        <pc:graphicFrameChg chg="add del mod">
          <ac:chgData name="Cassandra, Jessica" userId="8e3ce6a6-2130-4018-91ce-d850b7251b29" providerId="ADAL" clId="{D5D4477A-32BB-47D3-9865-4E1153C5F155}" dt="2025-01-23T11:14:45.588" v="49" actId="478"/>
          <ac:graphicFrameMkLst>
            <pc:docMk/>
            <pc:sldMk cId="4266805753" sldId="311"/>
            <ac:graphicFrameMk id="6" creationId="{B1EE1DFC-D2BD-CEF6-A10A-C5F9E3885652}"/>
          </ac:graphicFrameMkLst>
        </pc:graphicFrameChg>
        <pc:graphicFrameChg chg="add mod">
          <ac:chgData name="Cassandra, Jessica" userId="8e3ce6a6-2130-4018-91ce-d850b7251b29" providerId="ADAL" clId="{D5D4477A-32BB-47D3-9865-4E1153C5F155}" dt="2025-01-23T11:15:32.248" v="54" actId="1076"/>
          <ac:graphicFrameMkLst>
            <pc:docMk/>
            <pc:sldMk cId="4266805753" sldId="311"/>
            <ac:graphicFrameMk id="8" creationId="{8C7A23FD-35C5-801E-4CB4-B1D349B4B771}"/>
          </ac:graphicFrameMkLst>
        </pc:graphicFrameChg>
      </pc:sldChg>
      <pc:sldChg chg="del">
        <pc:chgData name="Cassandra, Jessica" userId="8e3ce6a6-2130-4018-91ce-d850b7251b29" providerId="ADAL" clId="{D5D4477A-32BB-47D3-9865-4E1153C5F155}" dt="2025-01-23T11:00:11.359" v="30" actId="47"/>
        <pc:sldMkLst>
          <pc:docMk/>
          <pc:sldMk cId="3791750651" sldId="2147475598"/>
        </pc:sldMkLst>
      </pc:sldChg>
      <pc:sldChg chg="del">
        <pc:chgData name="Cassandra, Jessica" userId="8e3ce6a6-2130-4018-91ce-d850b7251b29" providerId="ADAL" clId="{D5D4477A-32BB-47D3-9865-4E1153C5F155}" dt="2025-01-23T11:00:11.359" v="30" actId="47"/>
        <pc:sldMkLst>
          <pc:docMk/>
          <pc:sldMk cId="2931737819" sldId="2147483603"/>
        </pc:sldMkLst>
      </pc:sldChg>
      <pc:sldChg chg="del">
        <pc:chgData name="Cassandra, Jessica" userId="8e3ce6a6-2130-4018-91ce-d850b7251b29" providerId="ADAL" clId="{D5D4477A-32BB-47D3-9865-4E1153C5F155}" dt="2025-01-23T11:01:17.881" v="43" actId="47"/>
        <pc:sldMkLst>
          <pc:docMk/>
          <pc:sldMk cId="1305427250" sldId="2147483639"/>
        </pc:sldMkLst>
      </pc:sldChg>
      <pc:sldChg chg="del">
        <pc:chgData name="Cassandra, Jessica" userId="8e3ce6a6-2130-4018-91ce-d850b7251b29" providerId="ADAL" clId="{D5D4477A-32BB-47D3-9865-4E1153C5F155}" dt="2025-01-23T11:01:18.165" v="44" actId="47"/>
        <pc:sldMkLst>
          <pc:docMk/>
          <pc:sldMk cId="3759813271" sldId="2147483640"/>
        </pc:sldMkLst>
      </pc:sldChg>
      <pc:sldChg chg="del">
        <pc:chgData name="Cassandra, Jessica" userId="8e3ce6a6-2130-4018-91ce-d850b7251b29" providerId="ADAL" clId="{D5D4477A-32BB-47D3-9865-4E1153C5F155}" dt="2025-01-23T11:01:14.406" v="41" actId="47"/>
        <pc:sldMkLst>
          <pc:docMk/>
          <pc:sldMk cId="2271127859" sldId="2147483644"/>
        </pc:sldMkLst>
      </pc:sldChg>
      <pc:sldChg chg="del">
        <pc:chgData name="Cassandra, Jessica" userId="8e3ce6a6-2130-4018-91ce-d850b7251b29" providerId="ADAL" clId="{D5D4477A-32BB-47D3-9865-4E1153C5F155}" dt="2025-01-23T11:01:14.760" v="42" actId="47"/>
        <pc:sldMkLst>
          <pc:docMk/>
          <pc:sldMk cId="3956690294" sldId="21474836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55F9E7-427B-403E-9B68-EDB6EEE57F42}" type="datetimeFigureOut">
              <a:rPr lang="en-ID" smtClean="0"/>
              <a:t>30/01/2025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1063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113C0-4F77-4D15-B0C6-267C23C0AAB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5951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Misi</a:t>
            </a:r>
            <a:r>
              <a:rPr lang="en-US"/>
              <a:t> yang </a:t>
            </a:r>
            <a:r>
              <a:rPr lang="en-US" err="1"/>
              <a:t>sdh</a:t>
            </a:r>
            <a:r>
              <a:rPr lang="en-US"/>
              <a:t> </a:t>
            </a:r>
            <a:r>
              <a:rPr lang="en-US" err="1"/>
              <a:t>tdak</a:t>
            </a:r>
            <a:r>
              <a:rPr lang="en-US"/>
              <a:t> </a:t>
            </a:r>
            <a:r>
              <a:rPr lang="en-US" err="1"/>
              <a:t>tayang</a:t>
            </a:r>
            <a:endParaRPr lang="en-US"/>
          </a:p>
          <a:p>
            <a:r>
              <a:rPr lang="en-US"/>
              <a:t>- PVP DSE</a:t>
            </a:r>
          </a:p>
          <a:p>
            <a:r>
              <a:rPr lang="en-US"/>
              <a:t>- PVP DSB16 </a:t>
            </a:r>
          </a:p>
          <a:p>
            <a:r>
              <a:rPr lang="en-US"/>
              <a:t>- SRC expansion</a:t>
            </a:r>
          </a:p>
          <a:p>
            <a:r>
              <a:rPr lang="en-US"/>
              <a:t>- Semi WS</a:t>
            </a:r>
          </a:p>
          <a:p>
            <a:r>
              <a:rPr lang="en-US"/>
              <a:t>- chiller Aqua</a:t>
            </a:r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B113C0-4F77-4D15-B0C6-267C23C0AAB3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45755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Misi</a:t>
            </a:r>
            <a:r>
              <a:rPr lang="en-US"/>
              <a:t> yang </a:t>
            </a:r>
            <a:r>
              <a:rPr lang="en-US" err="1"/>
              <a:t>sdh</a:t>
            </a:r>
            <a:r>
              <a:rPr lang="en-US"/>
              <a:t> </a:t>
            </a:r>
            <a:r>
              <a:rPr lang="en-US" err="1"/>
              <a:t>tdak</a:t>
            </a:r>
            <a:r>
              <a:rPr lang="en-US"/>
              <a:t> </a:t>
            </a:r>
            <a:r>
              <a:rPr lang="en-US" err="1"/>
              <a:t>tayang</a:t>
            </a:r>
            <a:endParaRPr lang="en-US"/>
          </a:p>
          <a:p>
            <a:r>
              <a:rPr lang="en-US"/>
              <a:t>- PVP DSE</a:t>
            </a:r>
          </a:p>
          <a:p>
            <a:r>
              <a:rPr lang="en-US"/>
              <a:t>- PVP DSB16 </a:t>
            </a:r>
          </a:p>
          <a:p>
            <a:r>
              <a:rPr lang="en-US"/>
              <a:t>- SRC expansion</a:t>
            </a:r>
          </a:p>
          <a:p>
            <a:r>
              <a:rPr lang="en-US"/>
              <a:t>- Semi WS</a:t>
            </a:r>
          </a:p>
          <a:p>
            <a:r>
              <a:rPr lang="en-US"/>
              <a:t>- chiller Aqua</a:t>
            </a:r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B113C0-4F77-4D15-B0C6-267C23C0AAB3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7829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Misi</a:t>
            </a:r>
            <a:r>
              <a:rPr lang="en-US"/>
              <a:t> yang </a:t>
            </a:r>
            <a:r>
              <a:rPr lang="en-US" err="1"/>
              <a:t>sdh</a:t>
            </a:r>
            <a:r>
              <a:rPr lang="en-US"/>
              <a:t> </a:t>
            </a:r>
            <a:r>
              <a:rPr lang="en-US" err="1"/>
              <a:t>tdak</a:t>
            </a:r>
            <a:r>
              <a:rPr lang="en-US"/>
              <a:t> </a:t>
            </a:r>
            <a:r>
              <a:rPr lang="en-US" err="1"/>
              <a:t>tayang</a:t>
            </a:r>
            <a:endParaRPr lang="en-US"/>
          </a:p>
          <a:p>
            <a:r>
              <a:rPr lang="en-US"/>
              <a:t>- PVP DSE</a:t>
            </a:r>
          </a:p>
          <a:p>
            <a:r>
              <a:rPr lang="en-US"/>
              <a:t>- PVP DSB16 </a:t>
            </a:r>
          </a:p>
          <a:p>
            <a:r>
              <a:rPr lang="en-US"/>
              <a:t>- SRC expansion</a:t>
            </a:r>
          </a:p>
          <a:p>
            <a:r>
              <a:rPr lang="en-US"/>
              <a:t>- Semi WS</a:t>
            </a:r>
          </a:p>
          <a:p>
            <a:r>
              <a:rPr lang="en-US"/>
              <a:t>- chiller Aqua</a:t>
            </a:r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B113C0-4F77-4D15-B0C6-267C23C0AAB3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6687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Misi</a:t>
            </a:r>
            <a:r>
              <a:rPr lang="en-US"/>
              <a:t> yang </a:t>
            </a:r>
            <a:r>
              <a:rPr lang="en-US" err="1"/>
              <a:t>sdh</a:t>
            </a:r>
            <a:r>
              <a:rPr lang="en-US"/>
              <a:t> </a:t>
            </a:r>
            <a:r>
              <a:rPr lang="en-US" err="1"/>
              <a:t>tdak</a:t>
            </a:r>
            <a:r>
              <a:rPr lang="en-US"/>
              <a:t> </a:t>
            </a:r>
            <a:r>
              <a:rPr lang="en-US" err="1"/>
              <a:t>tayang</a:t>
            </a:r>
            <a:endParaRPr lang="en-US"/>
          </a:p>
          <a:p>
            <a:r>
              <a:rPr lang="en-US"/>
              <a:t>- PVP DSE</a:t>
            </a:r>
          </a:p>
          <a:p>
            <a:r>
              <a:rPr lang="en-US"/>
              <a:t>- PVP DSB16 </a:t>
            </a:r>
          </a:p>
          <a:p>
            <a:r>
              <a:rPr lang="en-US"/>
              <a:t>- SRC expansion</a:t>
            </a:r>
          </a:p>
          <a:p>
            <a:r>
              <a:rPr lang="en-US"/>
              <a:t>- Semi WS</a:t>
            </a:r>
          </a:p>
          <a:p>
            <a:r>
              <a:rPr lang="en-US"/>
              <a:t>- chiller Aqua</a:t>
            </a:r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B113C0-4F77-4D15-B0C6-267C23C0AAB3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194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113C0-4F77-4D15-B0C6-267C23C0AAB3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2544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113C0-4F77-4D15-B0C6-267C23C0AAB3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88353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113C0-4F77-4D15-B0C6-267C23C0AAB3}" type="slidenum">
              <a:rPr lang="en-ID" smtClean="0"/>
              <a:t>21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26010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113C0-4F77-4D15-B0C6-267C23C0AAB3}" type="slidenum">
              <a:rPr lang="en-ID" smtClean="0"/>
              <a:t>22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599106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B113C0-4F77-4D15-B0C6-267C23C0AAB3}" type="slidenum">
              <a:rPr lang="en-ID" smtClean="0"/>
              <a:t>30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6148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B113C0-4F77-4D15-B0C6-267C23C0AAB3}" type="slidenum">
              <a:rPr kumimoji="0" lang="en-ID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7657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08B3D-8B1A-7386-D5FF-1073D6EE3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6771" y="2364595"/>
            <a:ext cx="8950506" cy="914977"/>
          </a:xfrm>
        </p:spPr>
        <p:txBody>
          <a:bodyPr anchor="ctr">
            <a:normAutofit/>
          </a:bodyPr>
          <a:lstStyle>
            <a:lvl1pPr algn="l">
              <a:defRPr sz="4200" b="1">
                <a:solidFill>
                  <a:srgbClr val="013A6F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C9C6F-439A-9D73-6465-F8A1AD6E93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6771" y="3103938"/>
            <a:ext cx="8950506" cy="588576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rgbClr val="013A6F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FB606-2B0D-A003-DE36-DB9041CA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86770" y="6489700"/>
            <a:ext cx="9527867" cy="365125"/>
          </a:xfrm>
        </p:spPr>
        <p:txBody>
          <a:bodyPr/>
          <a:lstStyle/>
          <a:p>
            <a:r>
              <a:rPr lang="en-US"/>
              <a:t>CONFIDENTIAL for internal use only. This document in not intended for advertising purpose</a:t>
            </a: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8D2B4-F347-C939-9AF7-6089E0ACE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428DD-CA71-4526-8C54-5D149B903A08}" type="slidenum">
              <a:rPr lang="en-ID" smtClean="0"/>
              <a:t>‹#›</a:t>
            </a:fld>
            <a:endParaRPr lang="en-ID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612613-6B7C-D953-2849-61468587624F}"/>
              </a:ext>
            </a:extLst>
          </p:cNvPr>
          <p:cNvSpPr/>
          <p:nvPr userDrawn="1"/>
        </p:nvSpPr>
        <p:spPr>
          <a:xfrm>
            <a:off x="-605064" y="65164"/>
            <a:ext cx="480902" cy="365760"/>
          </a:xfrm>
          <a:prstGeom prst="rect">
            <a:avLst/>
          </a:prstGeom>
          <a:solidFill>
            <a:srgbClr val="0070C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549021-E85D-B45F-8734-EDB8F404BC45}"/>
              </a:ext>
            </a:extLst>
          </p:cNvPr>
          <p:cNvSpPr/>
          <p:nvPr userDrawn="1"/>
        </p:nvSpPr>
        <p:spPr>
          <a:xfrm>
            <a:off x="-605064" y="1284307"/>
            <a:ext cx="480902" cy="365760"/>
          </a:xfrm>
          <a:prstGeom prst="rect">
            <a:avLst/>
          </a:prstGeom>
          <a:solidFill>
            <a:srgbClr val="E2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A5851C-5BD3-6EBD-13C5-7B0EAD51C5C8}"/>
              </a:ext>
            </a:extLst>
          </p:cNvPr>
          <p:cNvSpPr/>
          <p:nvPr userDrawn="1"/>
        </p:nvSpPr>
        <p:spPr>
          <a:xfrm>
            <a:off x="-605064" y="471545"/>
            <a:ext cx="480902" cy="365760"/>
          </a:xfrm>
          <a:prstGeom prst="rect">
            <a:avLst/>
          </a:prstGeom>
          <a:solidFill>
            <a:srgbClr val="6FC4E9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77E283B-6A08-494E-971F-56228303F80B}"/>
              </a:ext>
            </a:extLst>
          </p:cNvPr>
          <p:cNvSpPr/>
          <p:nvPr userDrawn="1"/>
        </p:nvSpPr>
        <p:spPr>
          <a:xfrm>
            <a:off x="-605064" y="877926"/>
            <a:ext cx="480902" cy="365760"/>
          </a:xfrm>
          <a:prstGeom prst="rect">
            <a:avLst/>
          </a:prstGeom>
          <a:solidFill>
            <a:srgbClr val="013A6F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8641D7-E3E8-A659-B515-9F1D6514E513}"/>
              </a:ext>
            </a:extLst>
          </p:cNvPr>
          <p:cNvSpPr/>
          <p:nvPr userDrawn="1"/>
        </p:nvSpPr>
        <p:spPr>
          <a:xfrm>
            <a:off x="-605064" y="1690688"/>
            <a:ext cx="480902" cy="365760"/>
          </a:xfrm>
          <a:prstGeom prst="rect">
            <a:avLst/>
          </a:prstGeom>
          <a:solidFill>
            <a:srgbClr val="C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F2150D7-DEC5-A17C-284B-5085A5FD9F02}"/>
              </a:ext>
            </a:extLst>
          </p:cNvPr>
          <p:cNvSpPr/>
          <p:nvPr userDrawn="1"/>
        </p:nvSpPr>
        <p:spPr>
          <a:xfrm>
            <a:off x="-605064" y="2097071"/>
            <a:ext cx="480902" cy="365760"/>
          </a:xfrm>
          <a:prstGeom prst="rect">
            <a:avLst/>
          </a:prstGeom>
          <a:solidFill>
            <a:srgbClr val="FFFFFF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6A43C0B-EBCF-7831-25CA-FC4DAE43FB73}"/>
              </a:ext>
            </a:extLst>
          </p:cNvPr>
          <p:cNvSpPr txBox="1"/>
          <p:nvPr userDrawn="1"/>
        </p:nvSpPr>
        <p:spPr>
          <a:xfrm>
            <a:off x="-1131328" y="2813538"/>
            <a:ext cx="10658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013A6F"/>
                </a:solidFill>
              </a:rPr>
              <a:t>Font : </a:t>
            </a:r>
            <a:r>
              <a:rPr lang="en-US" sz="1200" b="1">
                <a:solidFill>
                  <a:srgbClr val="013A6F"/>
                </a:solidFill>
                <a:latin typeface="+mj-lt"/>
              </a:rPr>
              <a:t>Poppins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261D27-A769-30A8-19BF-26A50D076D91}"/>
              </a:ext>
            </a:extLst>
          </p:cNvPr>
          <p:cNvSpPr txBox="1"/>
          <p:nvPr userDrawn="1"/>
        </p:nvSpPr>
        <p:spPr>
          <a:xfrm>
            <a:off x="-2159814" y="3033009"/>
            <a:ext cx="2094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0">
                <a:solidFill>
                  <a:srgbClr val="013A6F"/>
                </a:solidFill>
              </a:rPr>
              <a:t>Headings : </a:t>
            </a:r>
            <a:r>
              <a:rPr lang="en-US" sz="1200" b="1">
                <a:solidFill>
                  <a:srgbClr val="013A6F"/>
                </a:solidFill>
                <a:latin typeface="+mj-lt"/>
              </a:rPr>
              <a:t>Poppins 42 (Bold)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013A6F"/>
                </a:solidFill>
              </a:rPr>
              <a:t>Content Headings : Poppins 20</a:t>
            </a:r>
            <a:endParaRPr lang="en-ID" sz="1200" b="0">
              <a:solidFill>
                <a:srgbClr val="013A6F"/>
              </a:solidFill>
              <a:latin typeface="+mn-lt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F1B7F8B-5D1B-BEC0-93CD-124D2B78C2B8}"/>
              </a:ext>
            </a:extLst>
          </p:cNvPr>
          <p:cNvGrpSpPr/>
          <p:nvPr userDrawn="1"/>
        </p:nvGrpSpPr>
        <p:grpSpPr>
          <a:xfrm>
            <a:off x="-9330" y="-3852"/>
            <a:ext cx="2021432" cy="6872564"/>
            <a:chOff x="-9330" y="-3852"/>
            <a:chExt cx="2021432" cy="687256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E27719C-DEEB-A1F3-C0D7-3782E55A8A2F}"/>
                </a:ext>
              </a:extLst>
            </p:cNvPr>
            <p:cNvGrpSpPr/>
            <p:nvPr userDrawn="1"/>
          </p:nvGrpSpPr>
          <p:grpSpPr>
            <a:xfrm>
              <a:off x="-9330" y="-3852"/>
              <a:ext cx="2021246" cy="6872564"/>
              <a:chOff x="-1" y="-4"/>
              <a:chExt cx="2021246" cy="6872564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97937DC5-9913-3427-59A9-0C8B432AB8AA}"/>
                  </a:ext>
                </a:extLst>
              </p:cNvPr>
              <p:cNvSpPr/>
              <p:nvPr/>
            </p:nvSpPr>
            <p:spPr>
              <a:xfrm rot="16200000">
                <a:off x="-2425660" y="2425655"/>
                <a:ext cx="6872564" cy="2021246"/>
              </a:xfrm>
              <a:custGeom>
                <a:avLst/>
                <a:gdLst>
                  <a:gd name="connsiteX0" fmla="*/ 0 w 9278650"/>
                  <a:gd name="connsiteY0" fmla="*/ 0 h 274320"/>
                  <a:gd name="connsiteX1" fmla="*/ 9013778 w 9278650"/>
                  <a:gd name="connsiteY1" fmla="*/ 0 h 274320"/>
                  <a:gd name="connsiteX2" fmla="*/ 9278650 w 9278650"/>
                  <a:gd name="connsiteY2" fmla="*/ 274320 h 274320"/>
                  <a:gd name="connsiteX3" fmla="*/ 0 w 9278650"/>
                  <a:gd name="connsiteY3" fmla="*/ 274320 h 274320"/>
                  <a:gd name="connsiteX4" fmla="*/ 0 w 9278650"/>
                  <a:gd name="connsiteY4" fmla="*/ 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78650" h="274320">
                    <a:moveTo>
                      <a:pt x="0" y="0"/>
                    </a:moveTo>
                    <a:lnTo>
                      <a:pt x="9013778" y="0"/>
                    </a:lnTo>
                    <a:lnTo>
                      <a:pt x="9278650" y="274320"/>
                    </a:lnTo>
                    <a:lnTo>
                      <a:pt x="0" y="2743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4224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/>
              </a:p>
            </p:txBody>
          </p:sp>
          <p:sp>
            <p:nvSpPr>
              <p:cNvPr id="8" name="Flowchart: Manual Input 7">
                <a:extLst>
                  <a:ext uri="{FF2B5EF4-FFF2-40B4-BE49-F238E27FC236}">
                    <a16:creationId xmlns:a16="http://schemas.microsoft.com/office/drawing/2014/main" id="{F9B38BB8-5817-D39D-895B-1DACC1194DA6}"/>
                  </a:ext>
                </a:extLst>
              </p:cNvPr>
              <p:cNvSpPr/>
              <p:nvPr/>
            </p:nvSpPr>
            <p:spPr>
              <a:xfrm flipH="1" flipV="1">
                <a:off x="0" y="-2"/>
                <a:ext cx="2021244" cy="923280"/>
              </a:xfrm>
              <a:prstGeom prst="flowChartManualInput">
                <a:avLst/>
              </a:prstGeom>
              <a:solidFill>
                <a:srgbClr val="F0F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D0F01E2A-43C5-C731-3DE5-31F7D16958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0" y="852854"/>
                <a:ext cx="2021244" cy="194896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F99F3AB-5CE5-9668-6B8C-A1C912C27C3D}"/>
                </a:ext>
              </a:extLst>
            </p:cNvPr>
            <p:cNvSpPr/>
            <p:nvPr userDrawn="1"/>
          </p:nvSpPr>
          <p:spPr>
            <a:xfrm rot="10800000">
              <a:off x="-9144" y="6746231"/>
              <a:ext cx="2021246" cy="118515"/>
            </a:xfrm>
            <a:custGeom>
              <a:avLst/>
              <a:gdLst>
                <a:gd name="connsiteX0" fmla="*/ 0 w 2921712"/>
                <a:gd name="connsiteY0" fmla="*/ 0 h 274320"/>
                <a:gd name="connsiteX1" fmla="*/ 2921712 w 2921712"/>
                <a:gd name="connsiteY1" fmla="*/ 0 h 274320"/>
                <a:gd name="connsiteX2" fmla="*/ 2921712 w 2921712"/>
                <a:gd name="connsiteY2" fmla="*/ 274320 h 274320"/>
                <a:gd name="connsiteX3" fmla="*/ 264872 w 2921712"/>
                <a:gd name="connsiteY3" fmla="*/ 274320 h 274320"/>
                <a:gd name="connsiteX4" fmla="*/ 0 w 2921712"/>
                <a:gd name="connsiteY4" fmla="*/ 0 h 27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1712" h="274320">
                  <a:moveTo>
                    <a:pt x="0" y="0"/>
                  </a:moveTo>
                  <a:lnTo>
                    <a:pt x="2921712" y="0"/>
                  </a:lnTo>
                  <a:lnTo>
                    <a:pt x="2921712" y="274320"/>
                  </a:lnTo>
                  <a:lnTo>
                    <a:pt x="264872" y="27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57553F68-C300-46BC-4D95-1182E41AB1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64008" y="6493894"/>
              <a:ext cx="642761" cy="3668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6327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92854-5A8C-C434-5B61-A20713CB5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3246" y="218849"/>
            <a:ext cx="9885483" cy="422365"/>
          </a:xfrm>
        </p:spPr>
        <p:txBody>
          <a:bodyPr>
            <a:normAutofit/>
          </a:bodyPr>
          <a:lstStyle>
            <a:lvl1pPr>
              <a:defRPr sz="2000" b="1">
                <a:solidFill>
                  <a:srgbClr val="013A6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2F0D1-7A10-E860-564B-23FB11D14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3246" y="852854"/>
            <a:ext cx="9885483" cy="5324109"/>
          </a:xfrm>
        </p:spPr>
        <p:txBody>
          <a:bodyPr>
            <a:normAutofit/>
          </a:bodyPr>
          <a:lstStyle>
            <a:lvl1pPr>
              <a:defRPr sz="1800">
                <a:solidFill>
                  <a:srgbClr val="013A6F"/>
                </a:solidFill>
              </a:defRPr>
            </a:lvl1pPr>
            <a:lvl2pPr>
              <a:defRPr sz="1600">
                <a:solidFill>
                  <a:srgbClr val="013A6F"/>
                </a:solidFill>
              </a:defRPr>
            </a:lvl2pPr>
            <a:lvl3pPr>
              <a:defRPr sz="1400">
                <a:solidFill>
                  <a:srgbClr val="013A6F"/>
                </a:solidFill>
              </a:defRPr>
            </a:lvl3pPr>
            <a:lvl4pPr>
              <a:defRPr sz="1200">
                <a:solidFill>
                  <a:srgbClr val="013A6F"/>
                </a:solidFill>
              </a:defRPr>
            </a:lvl4pPr>
            <a:lvl5pPr>
              <a:defRPr sz="1200">
                <a:solidFill>
                  <a:srgbClr val="013A6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65AA7-5607-4B44-EA5D-2B67F4AD5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33246" y="6489700"/>
            <a:ext cx="9381391" cy="365125"/>
          </a:xfrm>
        </p:spPr>
        <p:txBody>
          <a:bodyPr/>
          <a:lstStyle/>
          <a:p>
            <a:r>
              <a:rPr lang="en-US"/>
              <a:t>CONFIDENTIAL for internal use only. This document in not intended for advertising purpose</a:t>
            </a: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B8666-C21E-17CE-C564-F40DE24A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428DD-CA71-4526-8C54-5D149B903A08}" type="slidenum">
              <a:rPr lang="en-ID" smtClean="0"/>
              <a:t>‹#›</a:t>
            </a:fld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1433A8-88FB-CC24-0721-C8652037DCFB}"/>
              </a:ext>
            </a:extLst>
          </p:cNvPr>
          <p:cNvSpPr txBox="1"/>
          <p:nvPr userDrawn="1"/>
        </p:nvSpPr>
        <p:spPr>
          <a:xfrm>
            <a:off x="-2094291" y="2584630"/>
            <a:ext cx="2094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0">
                <a:solidFill>
                  <a:srgbClr val="013A6F"/>
                </a:solidFill>
              </a:rPr>
              <a:t>Headings : </a:t>
            </a:r>
            <a:r>
              <a:rPr lang="en-US" sz="1200" b="1">
                <a:solidFill>
                  <a:srgbClr val="013A6F"/>
                </a:solidFill>
                <a:latin typeface="+mj-lt"/>
              </a:rPr>
              <a:t>Poppins 20 (Bold)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013A6F"/>
                </a:solidFill>
              </a:rPr>
              <a:t>Content Headings : Poppins 12</a:t>
            </a:r>
            <a:endParaRPr lang="en-ID" sz="1200" b="0">
              <a:solidFill>
                <a:srgbClr val="013A6F"/>
              </a:solidFill>
              <a:latin typeface="+mn-lt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71571B-EDCE-FF52-EFD0-5BFBED0EF85E}"/>
              </a:ext>
            </a:extLst>
          </p:cNvPr>
          <p:cNvCxnSpPr/>
          <p:nvPr userDrawn="1"/>
        </p:nvCxnSpPr>
        <p:spPr>
          <a:xfrm>
            <a:off x="2296357" y="587460"/>
            <a:ext cx="3661198" cy="0"/>
          </a:xfrm>
          <a:prstGeom prst="line">
            <a:avLst/>
          </a:prstGeom>
          <a:ln w="1905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B9221FF-BB19-EA50-0A6E-77B85DCAABD2}"/>
              </a:ext>
            </a:extLst>
          </p:cNvPr>
          <p:cNvSpPr/>
          <p:nvPr userDrawn="1"/>
        </p:nvSpPr>
        <p:spPr>
          <a:xfrm>
            <a:off x="-605064" y="65164"/>
            <a:ext cx="480902" cy="365760"/>
          </a:xfrm>
          <a:prstGeom prst="rect">
            <a:avLst/>
          </a:prstGeom>
          <a:solidFill>
            <a:srgbClr val="0070C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A88D16-209D-1955-2D6B-A12FBBC62A8C}"/>
              </a:ext>
            </a:extLst>
          </p:cNvPr>
          <p:cNvSpPr/>
          <p:nvPr userDrawn="1"/>
        </p:nvSpPr>
        <p:spPr>
          <a:xfrm>
            <a:off x="-605064" y="1284307"/>
            <a:ext cx="480902" cy="365760"/>
          </a:xfrm>
          <a:prstGeom prst="rect">
            <a:avLst/>
          </a:prstGeom>
          <a:solidFill>
            <a:srgbClr val="E2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BEF67B-44AA-952A-665B-ADF9A9190765}"/>
              </a:ext>
            </a:extLst>
          </p:cNvPr>
          <p:cNvSpPr/>
          <p:nvPr userDrawn="1"/>
        </p:nvSpPr>
        <p:spPr>
          <a:xfrm>
            <a:off x="-605064" y="471545"/>
            <a:ext cx="480902" cy="365760"/>
          </a:xfrm>
          <a:prstGeom prst="rect">
            <a:avLst/>
          </a:prstGeom>
          <a:solidFill>
            <a:srgbClr val="6FC4E9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786789-907D-E954-EA35-3E21CCBCEF74}"/>
              </a:ext>
            </a:extLst>
          </p:cNvPr>
          <p:cNvSpPr/>
          <p:nvPr userDrawn="1"/>
        </p:nvSpPr>
        <p:spPr>
          <a:xfrm>
            <a:off x="-605064" y="877926"/>
            <a:ext cx="480902" cy="365760"/>
          </a:xfrm>
          <a:prstGeom prst="rect">
            <a:avLst/>
          </a:prstGeom>
          <a:solidFill>
            <a:srgbClr val="013A6F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86DE1C-C0B2-3142-7B9B-E52AC11BBC3E}"/>
              </a:ext>
            </a:extLst>
          </p:cNvPr>
          <p:cNvSpPr/>
          <p:nvPr userDrawn="1"/>
        </p:nvSpPr>
        <p:spPr>
          <a:xfrm>
            <a:off x="-605064" y="1690688"/>
            <a:ext cx="480902" cy="365760"/>
          </a:xfrm>
          <a:prstGeom prst="rect">
            <a:avLst/>
          </a:prstGeom>
          <a:solidFill>
            <a:srgbClr val="C0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95167D0-E752-580A-E7C0-5BB2EB4EEF71}"/>
              </a:ext>
            </a:extLst>
          </p:cNvPr>
          <p:cNvSpPr/>
          <p:nvPr userDrawn="1"/>
        </p:nvSpPr>
        <p:spPr>
          <a:xfrm>
            <a:off x="-605064" y="2097071"/>
            <a:ext cx="480902" cy="365760"/>
          </a:xfrm>
          <a:prstGeom prst="rect">
            <a:avLst/>
          </a:prstGeom>
          <a:solidFill>
            <a:srgbClr val="FFFFFF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739CDD-8773-761D-0E44-13DF272737C6}"/>
              </a:ext>
            </a:extLst>
          </p:cNvPr>
          <p:cNvGrpSpPr/>
          <p:nvPr userDrawn="1"/>
        </p:nvGrpSpPr>
        <p:grpSpPr>
          <a:xfrm>
            <a:off x="-9330" y="-3852"/>
            <a:ext cx="2021432" cy="6872564"/>
            <a:chOff x="-9330" y="-3852"/>
            <a:chExt cx="2021432" cy="687256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89272B8-A308-2007-7A56-9C99D6A1E813}"/>
                </a:ext>
              </a:extLst>
            </p:cNvPr>
            <p:cNvGrpSpPr/>
            <p:nvPr userDrawn="1"/>
          </p:nvGrpSpPr>
          <p:grpSpPr>
            <a:xfrm>
              <a:off x="-9330" y="-3852"/>
              <a:ext cx="2021246" cy="6872564"/>
              <a:chOff x="-1" y="-4"/>
              <a:chExt cx="2021246" cy="6872564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5821AFF-1160-F133-B7FC-E811FCB96BC3}"/>
                  </a:ext>
                </a:extLst>
              </p:cNvPr>
              <p:cNvSpPr/>
              <p:nvPr/>
            </p:nvSpPr>
            <p:spPr>
              <a:xfrm rot="16200000">
                <a:off x="-2425660" y="2425655"/>
                <a:ext cx="6872564" cy="2021246"/>
              </a:xfrm>
              <a:custGeom>
                <a:avLst/>
                <a:gdLst>
                  <a:gd name="connsiteX0" fmla="*/ 0 w 9278650"/>
                  <a:gd name="connsiteY0" fmla="*/ 0 h 274320"/>
                  <a:gd name="connsiteX1" fmla="*/ 9013778 w 9278650"/>
                  <a:gd name="connsiteY1" fmla="*/ 0 h 274320"/>
                  <a:gd name="connsiteX2" fmla="*/ 9278650 w 9278650"/>
                  <a:gd name="connsiteY2" fmla="*/ 274320 h 274320"/>
                  <a:gd name="connsiteX3" fmla="*/ 0 w 9278650"/>
                  <a:gd name="connsiteY3" fmla="*/ 274320 h 274320"/>
                  <a:gd name="connsiteX4" fmla="*/ 0 w 9278650"/>
                  <a:gd name="connsiteY4" fmla="*/ 0 h 274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278650" h="274320">
                    <a:moveTo>
                      <a:pt x="0" y="0"/>
                    </a:moveTo>
                    <a:lnTo>
                      <a:pt x="9013778" y="0"/>
                    </a:lnTo>
                    <a:lnTo>
                      <a:pt x="9278650" y="274320"/>
                    </a:lnTo>
                    <a:lnTo>
                      <a:pt x="0" y="2743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4224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D"/>
              </a:p>
            </p:txBody>
          </p:sp>
          <p:sp>
            <p:nvSpPr>
              <p:cNvPr id="19" name="Flowchart: Manual Input 18">
                <a:extLst>
                  <a:ext uri="{FF2B5EF4-FFF2-40B4-BE49-F238E27FC236}">
                    <a16:creationId xmlns:a16="http://schemas.microsoft.com/office/drawing/2014/main" id="{462A5210-AFCC-0664-D2C9-3728B6BE12A5}"/>
                  </a:ext>
                </a:extLst>
              </p:cNvPr>
              <p:cNvSpPr/>
              <p:nvPr/>
            </p:nvSpPr>
            <p:spPr>
              <a:xfrm flipH="1" flipV="1">
                <a:off x="0" y="-2"/>
                <a:ext cx="2021244" cy="923280"/>
              </a:xfrm>
              <a:prstGeom prst="flowChartManualInput">
                <a:avLst/>
              </a:prstGeom>
              <a:solidFill>
                <a:srgbClr val="F0F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D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A6C01666-80BF-58AB-5BD2-07F248AE80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0" y="852854"/>
                <a:ext cx="2021244" cy="194896"/>
              </a:xfrm>
              <a:prstGeom prst="line">
                <a:avLst/>
              </a:prstGeom>
              <a:ln w="381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34F221A-A599-34C0-F76F-980FC75F35AA}"/>
                </a:ext>
              </a:extLst>
            </p:cNvPr>
            <p:cNvSpPr/>
            <p:nvPr userDrawn="1"/>
          </p:nvSpPr>
          <p:spPr>
            <a:xfrm rot="10800000">
              <a:off x="-9144" y="6746231"/>
              <a:ext cx="2021246" cy="118515"/>
            </a:xfrm>
            <a:custGeom>
              <a:avLst/>
              <a:gdLst>
                <a:gd name="connsiteX0" fmla="*/ 0 w 2921712"/>
                <a:gd name="connsiteY0" fmla="*/ 0 h 274320"/>
                <a:gd name="connsiteX1" fmla="*/ 2921712 w 2921712"/>
                <a:gd name="connsiteY1" fmla="*/ 0 h 274320"/>
                <a:gd name="connsiteX2" fmla="*/ 2921712 w 2921712"/>
                <a:gd name="connsiteY2" fmla="*/ 274320 h 274320"/>
                <a:gd name="connsiteX3" fmla="*/ 264872 w 2921712"/>
                <a:gd name="connsiteY3" fmla="*/ 274320 h 274320"/>
                <a:gd name="connsiteX4" fmla="*/ 0 w 2921712"/>
                <a:gd name="connsiteY4" fmla="*/ 0 h 27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1712" h="274320">
                  <a:moveTo>
                    <a:pt x="0" y="0"/>
                  </a:moveTo>
                  <a:lnTo>
                    <a:pt x="2921712" y="0"/>
                  </a:lnTo>
                  <a:lnTo>
                    <a:pt x="2921712" y="274320"/>
                  </a:lnTo>
                  <a:lnTo>
                    <a:pt x="264872" y="27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D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A1BE47F-BDC4-4E4A-1983-30296DE8D5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364008" y="6493894"/>
              <a:ext cx="642761" cy="3668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7263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67A1F-D23A-52F0-956E-C4A8ED0D3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FF6469-1B22-755A-D289-2E270E9F0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46C47-71D8-51BA-2839-A769FDE7C5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035BB-66C9-F700-9709-C5C61CA88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for internal use only. This document in not intended for advertising purpose</a:t>
            </a: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16D56-C7DC-FB63-72AB-4E31BA4D8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428DD-CA71-4526-8C54-5D149B903A0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0709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4043A-C1A1-9BE6-B094-6488A6E0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43BF7-186B-C365-FA30-5345534DB6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7540E-0045-478D-EB86-D724720A2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5296F-313E-23A7-5566-4E46036FBB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C88C2-AE3A-450A-5B12-868F727D2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for internal use only. This document in not intended for advertising purpose</a:t>
            </a:r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4F665-525D-6834-74BA-FA7C71E2A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428DD-CA71-4526-8C54-5D149B903A0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72368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72E7B-12CF-1806-C4EC-E07035AE5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1FE028-8ADE-DB5A-AC21-EC2FFC2AB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3BCA7-4489-E26B-7589-245ADF50A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77AC04-336F-1C80-2CA1-25E8191D8A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BC40F1-9C58-641B-1F6E-EF30383E4C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20AFA0-2D67-9066-0D2B-9C914BF4A9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CD4D42-663F-13F6-1CF1-9D4D4B6A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for internal use only. This document in not intended for advertising purpose</a:t>
            </a:r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F07B13-3DE5-2F7B-7D03-16DF7540F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428DD-CA71-4526-8C54-5D149B903A0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54845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27F57-8A9F-8B14-E361-96BA36CA9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175C05-1292-53AC-2EDB-DF792F590D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EBB61-F84F-D063-1B7A-13527CEFF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for internal use only. This document in not intended for advertising purpose</a:t>
            </a:r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C2FCAB-91E8-AF7B-A303-3CD7D96B6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428DD-CA71-4526-8C54-5D149B903A0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71664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5E7788-90F1-B4E7-6393-5F842DDFD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for internal use only. This document in not intended for advertising purpose</a:t>
            </a:r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9EB99-06E7-9577-3274-AEA272D2F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428DD-CA71-4526-8C54-5D149B903A08}" type="slidenum">
              <a:rPr lang="en-ID" smtClean="0"/>
              <a:t>‹#›</a:t>
            </a:fld>
            <a:endParaRPr lang="en-ID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FB62BB6-181F-9DF8-5C16-999C1F2562EE}"/>
              </a:ext>
            </a:extLst>
          </p:cNvPr>
          <p:cNvCxnSpPr/>
          <p:nvPr userDrawn="1"/>
        </p:nvCxnSpPr>
        <p:spPr>
          <a:xfrm>
            <a:off x="212315" y="601647"/>
            <a:ext cx="5360361" cy="0"/>
          </a:xfrm>
          <a:prstGeom prst="line">
            <a:avLst/>
          </a:prstGeom>
          <a:ln w="1905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093CB33-FC45-69B6-CCAC-3E8261141F22}"/>
              </a:ext>
            </a:extLst>
          </p:cNvPr>
          <p:cNvSpPr/>
          <p:nvPr userDrawn="1"/>
        </p:nvSpPr>
        <p:spPr>
          <a:xfrm>
            <a:off x="-605064" y="65164"/>
            <a:ext cx="480902" cy="365760"/>
          </a:xfrm>
          <a:prstGeom prst="rect">
            <a:avLst/>
          </a:prstGeom>
          <a:solidFill>
            <a:srgbClr val="0070C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E88DA5-3E54-A23C-BADE-75983023CB0F}"/>
              </a:ext>
            </a:extLst>
          </p:cNvPr>
          <p:cNvSpPr/>
          <p:nvPr userDrawn="1"/>
        </p:nvSpPr>
        <p:spPr>
          <a:xfrm>
            <a:off x="-605064" y="1284307"/>
            <a:ext cx="480902" cy="365760"/>
          </a:xfrm>
          <a:prstGeom prst="rect">
            <a:avLst/>
          </a:prstGeom>
          <a:solidFill>
            <a:srgbClr val="E20000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11C477-EB2C-4BCE-AA15-254BF8B3B4D8}"/>
              </a:ext>
            </a:extLst>
          </p:cNvPr>
          <p:cNvSpPr/>
          <p:nvPr userDrawn="1"/>
        </p:nvSpPr>
        <p:spPr>
          <a:xfrm>
            <a:off x="-605064" y="471545"/>
            <a:ext cx="480902" cy="365760"/>
          </a:xfrm>
          <a:prstGeom prst="rect">
            <a:avLst/>
          </a:prstGeom>
          <a:solidFill>
            <a:srgbClr val="6FC4E9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BA70B16-6A5E-6992-2C91-82E89DEF1F20}"/>
              </a:ext>
            </a:extLst>
          </p:cNvPr>
          <p:cNvSpPr/>
          <p:nvPr userDrawn="1"/>
        </p:nvSpPr>
        <p:spPr>
          <a:xfrm>
            <a:off x="-605064" y="877926"/>
            <a:ext cx="480902" cy="36576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0C2404-389C-D7EF-6DC6-AD92A92A6D6C}"/>
              </a:ext>
            </a:extLst>
          </p:cNvPr>
          <p:cNvSpPr/>
          <p:nvPr userDrawn="1"/>
        </p:nvSpPr>
        <p:spPr>
          <a:xfrm>
            <a:off x="-605064" y="1690688"/>
            <a:ext cx="480902" cy="365760"/>
          </a:xfrm>
          <a:prstGeom prst="rect">
            <a:avLst/>
          </a:prstGeom>
          <a:solidFill>
            <a:srgbClr val="EAE6E8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06607D-DA6D-6BF3-BBC1-BDA5C8A905F4}"/>
              </a:ext>
            </a:extLst>
          </p:cNvPr>
          <p:cNvSpPr/>
          <p:nvPr userDrawn="1"/>
        </p:nvSpPr>
        <p:spPr>
          <a:xfrm>
            <a:off x="-605064" y="2097071"/>
            <a:ext cx="480902" cy="365760"/>
          </a:xfrm>
          <a:prstGeom prst="rect">
            <a:avLst/>
          </a:prstGeom>
          <a:solidFill>
            <a:srgbClr val="FFFFFF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9DB308-0ECE-AEE7-1045-A59A4B1C2FD0}"/>
              </a:ext>
            </a:extLst>
          </p:cNvPr>
          <p:cNvSpPr txBox="1"/>
          <p:nvPr userDrawn="1"/>
        </p:nvSpPr>
        <p:spPr>
          <a:xfrm>
            <a:off x="-2159814" y="2584604"/>
            <a:ext cx="2094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0">
                <a:solidFill>
                  <a:srgbClr val="0070C0"/>
                </a:solidFill>
              </a:rPr>
              <a:t>Headings : </a:t>
            </a:r>
            <a:r>
              <a:rPr lang="en-US" sz="1200" b="1">
                <a:solidFill>
                  <a:srgbClr val="0070C0"/>
                </a:solidFill>
                <a:latin typeface="+mj-lt"/>
              </a:rPr>
              <a:t>Poppins 20 (Bold)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>
                <a:solidFill>
                  <a:srgbClr val="0070C0"/>
                </a:solidFill>
              </a:rPr>
              <a:t>Content Headings : Poppins 12</a:t>
            </a:r>
            <a:endParaRPr lang="en-ID" sz="1200" b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60807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B302C-9758-3416-72EA-555CD5FB9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FB12F-E984-258C-A16F-638E75DF8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4948AE-07E3-8FEB-4B55-299850191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DB2727-EFCC-F0FC-CB38-A5AD208F4E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0DF5B-E71A-2B8F-3E97-1CC359FA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for internal use only. This document in not intended for advertising purpose</a:t>
            </a:r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BB31D-D7A5-9CDD-C111-108C2AE2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428DD-CA71-4526-8C54-5D149B903A0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32451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9542D-4E59-9F52-26C2-B70B78988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EF6A07-872B-F451-C468-AE822531C8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7D5E1D-AF20-46C1-9ADE-7975896D2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1C93D-2AC1-08D1-7F8F-8A765A9E0D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77A2F-0DEE-5CE6-E690-A61E57303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for internal use only. This document in not intended for advertising purpose</a:t>
            </a:r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7D66B-6EA2-BC50-6389-39EC52883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428DD-CA71-4526-8C54-5D149B903A0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23027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8FF8-2A2E-7E17-7C85-241575336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8A0095-3A72-5ABF-DCCF-12E69990F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D0B62-0661-EF21-72EA-E17A1CC9F1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AF127-50BB-8899-D30F-8D67733BD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for internal use only. This document in not intended for advertising purpose</a:t>
            </a: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686E7-78E1-F353-0D2D-658D911BF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428DD-CA71-4526-8C54-5D149B903A0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87716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FC5FA-8DCC-EF75-8AFC-A6D7D46480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7A1B2A-DF4B-A476-8F77-BAEA13255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26C42-5B11-10A2-5034-860E656AA9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B29CA-5A2F-7B52-24FA-8D7B6077B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 for internal use only. This document in not intended for advertising purpose</a:t>
            </a: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D7786-7C06-E2B7-C88A-D79AE904A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1428DD-CA71-4526-8C54-5D149B903A0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18681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4144FC-D32A-8DA6-6940-F00C428FC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146" y="365125"/>
            <a:ext cx="106855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BDED2-F7FD-5B52-7D79-96F92F4A5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3146" y="1825625"/>
            <a:ext cx="1068558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F3B8A-EF89-7BEB-C561-D588A8C87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33146" y="6480175"/>
            <a:ext cx="1018149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2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CONFIDENTIAL for internal use only. This document in not intended for advertising purpose</a:t>
            </a:r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B2AE6-9497-EA1C-F78C-B42C7633E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2561" y="6480175"/>
            <a:ext cx="4161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428DD-CA71-4526-8C54-5D149B903A0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8473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oppins" panose="00000500000000000000" pitchFamily="2" charset="0"/>
          <a:ea typeface="+mj-ea"/>
          <a:cs typeface="Poppins" panose="00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Binary_Worksheet.xlsb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e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FFE227-4F9D-FD43-8E07-C511C2971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D2AAE24-E6AF-2C4D-6F6B-0ACACE538969}"/>
              </a:ext>
            </a:extLst>
          </p:cNvPr>
          <p:cNvSpPr txBox="1">
            <a:spLocks/>
          </p:cNvSpPr>
          <p:nvPr/>
        </p:nvSpPr>
        <p:spPr>
          <a:xfrm>
            <a:off x="2254929" y="1933289"/>
            <a:ext cx="8942147" cy="9149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b="1" kern="1200">
                <a:solidFill>
                  <a:srgbClr val="CC0000"/>
                </a:solidFill>
                <a:latin typeface="Poppins" panose="00000500000000000000" pitchFamily="2" charset="0"/>
                <a:ea typeface="+mj-ea"/>
                <a:cs typeface="Poppins" panose="000005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013A6F"/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DTE Calendar &amp; Missions Example – Central Java</a:t>
            </a:r>
            <a:endParaRPr kumimoji="0" lang="en-ID" sz="4200" b="1" i="0" u="none" strike="noStrike" kern="1200" cap="none" spc="0" normalizeH="0" baseline="0" noProof="0" dirty="0">
              <a:ln>
                <a:noFill/>
              </a:ln>
              <a:solidFill>
                <a:srgbClr val="013A6F"/>
              </a:solidFill>
              <a:effectLst/>
              <a:uLnTx/>
              <a:uFillTx/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576D3A5-8947-3D53-0F27-0D07DE6DA6A8}"/>
              </a:ext>
            </a:extLst>
          </p:cNvPr>
          <p:cNvSpPr txBox="1">
            <a:spLocks/>
          </p:cNvSpPr>
          <p:nvPr/>
        </p:nvSpPr>
        <p:spPr>
          <a:xfrm>
            <a:off x="2254929" y="2852990"/>
            <a:ext cx="8942147" cy="365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CC0000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AYO SRC – DIGITAL TRADE ENGAGEMENT</a:t>
            </a:r>
            <a:endParaRPr kumimoji="0" lang="en-ID" sz="16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33F1DE7-90A3-5310-1922-6FE8ADAF845F}"/>
              </a:ext>
            </a:extLst>
          </p:cNvPr>
          <p:cNvSpPr txBox="1">
            <a:spLocks/>
          </p:cNvSpPr>
          <p:nvPr/>
        </p:nvSpPr>
        <p:spPr>
          <a:xfrm>
            <a:off x="2254929" y="3129160"/>
            <a:ext cx="8942147" cy="4020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0067B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ASSETS DEPLOYMENT</a:t>
            </a:r>
            <a:endParaRPr kumimoji="0" lang="en-ID" sz="1600" b="1" i="0" u="none" strike="noStrike" kern="1200" cap="none" spc="0" normalizeH="0" baseline="0" noProof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94DC5F4-00E8-FE2A-41C1-BEBA58002298}"/>
              </a:ext>
            </a:extLst>
          </p:cNvPr>
          <p:cNvSpPr txBox="1">
            <a:spLocks/>
          </p:cNvSpPr>
          <p:nvPr/>
        </p:nvSpPr>
        <p:spPr>
          <a:xfrm>
            <a:off x="2254929" y="3620238"/>
            <a:ext cx="8942147" cy="486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0067B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>
                <a:solidFill>
                  <a:prstClr val="white">
                    <a:lumMod val="50000"/>
                  </a:prstClr>
                </a:solidFill>
              </a:rPr>
              <a:t>February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2025</a:t>
            </a:r>
            <a:endParaRPr kumimoji="0" lang="en-ID" sz="14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3" name="Picture 2" descr="A logo with two lions and a red banner&#10;&#10;Description automatically generated">
            <a:extLst>
              <a:ext uri="{FF2B5EF4-FFF2-40B4-BE49-F238E27FC236}">
                <a16:creationId xmlns:a16="http://schemas.microsoft.com/office/drawing/2014/main" id="{3EC81152-DF3E-126B-0105-A62158A235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13"/>
          <a:stretch/>
        </p:blipFill>
        <p:spPr>
          <a:xfrm>
            <a:off x="11197076" y="177114"/>
            <a:ext cx="904688" cy="556716"/>
          </a:xfrm>
          <a:prstGeom prst="rect">
            <a:avLst/>
          </a:prstGeom>
        </p:spPr>
      </p:pic>
      <p:pic>
        <p:nvPicPr>
          <p:cNvPr id="7" name="Picture 6" descr="A red square with a logo&#10;&#10;Description automatically generated">
            <a:extLst>
              <a:ext uri="{FF2B5EF4-FFF2-40B4-BE49-F238E27FC236}">
                <a16:creationId xmlns:a16="http://schemas.microsoft.com/office/drawing/2014/main" id="{70187E01-D0EB-6BA0-1060-6A9BF2C183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92" y="2358378"/>
            <a:ext cx="1675908" cy="1675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57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C3A54-8231-6961-DFDC-38B53C700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834" y="166687"/>
            <a:ext cx="10175630" cy="422365"/>
          </a:xfrm>
        </p:spPr>
        <p:txBody>
          <a:bodyPr/>
          <a:lstStyle/>
          <a:p>
            <a:r>
              <a:rPr lang="en-US"/>
              <a:t>DTE Calendar February 2024</a:t>
            </a:r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EE2018-F056-7387-0BEA-694B40BBE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8BB1277A-042D-420B-6ABF-0A765DE11FFA}"/>
              </a:ext>
            </a:extLst>
          </p:cNvPr>
          <p:cNvSpPr txBox="1">
            <a:spLocks/>
          </p:cNvSpPr>
          <p:nvPr/>
        </p:nvSpPr>
        <p:spPr>
          <a:xfrm>
            <a:off x="-38100" y="1473905"/>
            <a:ext cx="2114366" cy="4840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1778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Overview Program</a:t>
            </a:r>
          </a:p>
          <a:p>
            <a:pPr marL="177800" marR="0" lvl="0" indent="-1778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DTE Panel</a:t>
            </a:r>
          </a:p>
          <a:p>
            <a:pPr marL="177800" marR="0" lvl="0" indent="-1778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DTE Mechanics</a:t>
            </a:r>
          </a:p>
          <a:p>
            <a:pPr marL="177800" marR="0" lvl="0" indent="-1778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PIC Program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E384C1-E681-A85F-DB2F-6C56F4A32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8222" y="929976"/>
            <a:ext cx="10175630" cy="5438352"/>
          </a:xfrm>
        </p:spPr>
        <p:txBody>
          <a:bodyPr>
            <a:noAutofit/>
          </a:bodyPr>
          <a:lstStyle/>
          <a:p>
            <a:r>
              <a:rPr lang="en-US" sz="1200" b="1" err="1"/>
              <a:t>Objektif</a:t>
            </a:r>
            <a:endParaRPr lang="en-US" sz="1200" b="1"/>
          </a:p>
          <a:p>
            <a:pPr marL="504825" indent="-285750">
              <a:buFont typeface="Wingdings" panose="05000000000000000000" pitchFamily="2" charset="2"/>
              <a:buChar char="ü"/>
            </a:pPr>
            <a:r>
              <a:rPr lang="en-US" sz="1200" err="1"/>
              <a:t>Memberikan</a:t>
            </a:r>
            <a:r>
              <a:rPr lang="en-US" sz="1200"/>
              <a:t> </a:t>
            </a:r>
            <a:r>
              <a:rPr lang="en-US" sz="1200" i="1"/>
              <a:t>visibility</a:t>
            </a:r>
            <a:r>
              <a:rPr lang="en-US" sz="1200"/>
              <a:t> </a:t>
            </a:r>
            <a:r>
              <a:rPr lang="en-US" sz="1200" err="1"/>
              <a:t>terkait</a:t>
            </a:r>
            <a:r>
              <a:rPr lang="en-US" sz="1200"/>
              <a:t> </a:t>
            </a:r>
            <a:r>
              <a:rPr lang="en-US" sz="1200" err="1"/>
              <a:t>dengan</a:t>
            </a:r>
            <a:r>
              <a:rPr lang="en-US" sz="1200"/>
              <a:t> </a:t>
            </a:r>
            <a:r>
              <a:rPr lang="en-US" sz="1200" err="1"/>
              <a:t>misi</a:t>
            </a:r>
            <a:r>
              <a:rPr lang="en-US" sz="1200"/>
              <a:t> </a:t>
            </a:r>
            <a:r>
              <a:rPr lang="en-US" sz="1200" err="1"/>
              <a:t>apa</a:t>
            </a:r>
            <a:r>
              <a:rPr lang="en-US" sz="1200"/>
              <a:t> </a:t>
            </a:r>
            <a:r>
              <a:rPr lang="en-US" sz="1200" err="1"/>
              <a:t>saja</a:t>
            </a:r>
            <a:r>
              <a:rPr lang="en-US" sz="1200"/>
              <a:t> yang </a:t>
            </a:r>
            <a:r>
              <a:rPr lang="en-US" sz="1200" err="1"/>
              <a:t>akan</a:t>
            </a:r>
            <a:r>
              <a:rPr lang="en-US" sz="1200"/>
              <a:t> </a:t>
            </a:r>
            <a:r>
              <a:rPr lang="en-US" sz="1200" err="1"/>
              <a:t>tayang</a:t>
            </a:r>
            <a:r>
              <a:rPr lang="en-US" sz="1200"/>
              <a:t> </a:t>
            </a:r>
            <a:r>
              <a:rPr lang="en-US" sz="1200" err="1"/>
              <a:t>selama</a:t>
            </a:r>
            <a:r>
              <a:rPr lang="en-US" sz="1200"/>
              <a:t> </a:t>
            </a:r>
            <a:r>
              <a:rPr lang="en-US" sz="1200" err="1"/>
              <a:t>satu</a:t>
            </a:r>
            <a:r>
              <a:rPr lang="en-US" sz="1200"/>
              <a:t> </a:t>
            </a:r>
            <a:r>
              <a:rPr lang="en-US" sz="1200" err="1"/>
              <a:t>bulan</a:t>
            </a:r>
            <a:r>
              <a:rPr lang="en-US" sz="1200"/>
              <a:t> </a:t>
            </a:r>
            <a:r>
              <a:rPr lang="en-US" sz="1200" err="1"/>
              <a:t>ke</a:t>
            </a:r>
            <a:r>
              <a:rPr lang="en-US" sz="1200"/>
              <a:t> </a:t>
            </a:r>
            <a:r>
              <a:rPr lang="en-US" sz="1200" err="1"/>
              <a:t>depan</a:t>
            </a:r>
            <a:endParaRPr lang="en-US" sz="1200"/>
          </a:p>
          <a:p>
            <a:pPr marL="504825" indent="-285750">
              <a:buFont typeface="Wingdings" panose="05000000000000000000" pitchFamily="2" charset="2"/>
              <a:buChar char="ü"/>
            </a:pPr>
            <a:r>
              <a:rPr lang="en-US" sz="1200" err="1"/>
              <a:t>Membantu</a:t>
            </a:r>
            <a:r>
              <a:rPr lang="en-US" sz="1200"/>
              <a:t> Field Team </a:t>
            </a:r>
            <a:r>
              <a:rPr lang="en-US" sz="1200" err="1"/>
              <a:t>untuk</a:t>
            </a:r>
            <a:r>
              <a:rPr lang="en-US" sz="1200"/>
              <a:t> </a:t>
            </a:r>
            <a:r>
              <a:rPr lang="en-US" sz="1200" err="1"/>
              <a:t>membuat</a:t>
            </a:r>
            <a:r>
              <a:rPr lang="en-US" sz="1200"/>
              <a:t> strategi </a:t>
            </a:r>
            <a:r>
              <a:rPr lang="en-US" sz="1200" err="1"/>
              <a:t>eksekusi</a:t>
            </a:r>
            <a:r>
              <a:rPr lang="en-US" sz="1200"/>
              <a:t> agar </a:t>
            </a:r>
            <a:r>
              <a:rPr lang="en-US" sz="1200" err="1"/>
              <a:t>misi</a:t>
            </a:r>
            <a:r>
              <a:rPr lang="en-US" sz="1200"/>
              <a:t> DTE </a:t>
            </a:r>
            <a:r>
              <a:rPr lang="en-US" sz="1200" err="1"/>
              <a:t>dapat</a:t>
            </a:r>
            <a:r>
              <a:rPr lang="en-US" sz="1200"/>
              <a:t> </a:t>
            </a:r>
            <a:r>
              <a:rPr lang="en-US" sz="1200" err="1"/>
              <a:t>sukses</a:t>
            </a:r>
            <a:r>
              <a:rPr lang="en-US" sz="1200"/>
              <a:t> </a:t>
            </a:r>
            <a:r>
              <a:rPr lang="en-US" sz="1200" err="1"/>
              <a:t>dikerjakan</a:t>
            </a:r>
            <a:r>
              <a:rPr lang="en-US" sz="1200"/>
              <a:t> oleh User</a:t>
            </a:r>
          </a:p>
          <a:p>
            <a:pPr marL="504825" indent="-285750">
              <a:buFont typeface="Wingdings" panose="05000000000000000000" pitchFamily="2" charset="2"/>
              <a:buChar char="ü"/>
            </a:pPr>
            <a:r>
              <a:rPr lang="en-US" sz="1200" err="1"/>
              <a:t>Memastikan</a:t>
            </a:r>
            <a:r>
              <a:rPr lang="en-US" sz="1200"/>
              <a:t> </a:t>
            </a:r>
            <a:r>
              <a:rPr lang="en-US" sz="1200" err="1"/>
              <a:t>misi</a:t>
            </a:r>
            <a:r>
              <a:rPr lang="en-US" sz="1200"/>
              <a:t> yang </a:t>
            </a:r>
            <a:r>
              <a:rPr lang="en-US" sz="1200" err="1"/>
              <a:t>akan</a:t>
            </a:r>
            <a:r>
              <a:rPr lang="en-US" sz="1200"/>
              <a:t> </a:t>
            </a:r>
            <a:r>
              <a:rPr lang="en-US" sz="1200" err="1"/>
              <a:t>ditayangkan</a:t>
            </a:r>
            <a:r>
              <a:rPr lang="en-US" sz="1200"/>
              <a:t> </a:t>
            </a:r>
            <a:r>
              <a:rPr lang="en-US" sz="1200" err="1"/>
              <a:t>ke</a:t>
            </a:r>
            <a:r>
              <a:rPr lang="en-US" sz="1200"/>
              <a:t> User </a:t>
            </a:r>
            <a:r>
              <a:rPr lang="en-US" sz="1200" err="1"/>
              <a:t>merupakan</a:t>
            </a:r>
            <a:r>
              <a:rPr lang="en-US" sz="1200"/>
              <a:t> </a:t>
            </a:r>
            <a:r>
              <a:rPr lang="en-US" sz="1200" err="1"/>
              <a:t>misi</a:t>
            </a:r>
            <a:r>
              <a:rPr lang="en-US" sz="1200"/>
              <a:t> yang </a:t>
            </a:r>
            <a:r>
              <a:rPr lang="en-US" sz="1200" err="1"/>
              <a:t>relevan</a:t>
            </a:r>
            <a:br>
              <a:rPr lang="en-US" sz="1200"/>
            </a:br>
            <a:endParaRPr lang="en-US" sz="1200"/>
          </a:p>
          <a:p>
            <a:r>
              <a:rPr lang="en-US" sz="1200" b="1"/>
              <a:t>Panel</a:t>
            </a:r>
          </a:p>
          <a:p>
            <a:pPr marL="504825" indent="-285750">
              <a:buFont typeface="Wingdings" panose="05000000000000000000" pitchFamily="2" charset="2"/>
              <a:buChar char="ü"/>
            </a:pPr>
            <a:r>
              <a:rPr lang="en-US" sz="1200">
                <a:latin typeface="Arial"/>
                <a:cs typeface="Arial"/>
              </a:rPr>
              <a:t>SRC</a:t>
            </a:r>
            <a:br>
              <a:rPr lang="en-US" sz="1200">
                <a:latin typeface="Arial"/>
                <a:cs typeface="Arial"/>
              </a:rPr>
            </a:br>
            <a:endParaRPr lang="en-US" sz="1200"/>
          </a:p>
          <a:p>
            <a:r>
              <a:rPr lang="en-US" sz="1200" b="1"/>
              <a:t>Area Affected</a:t>
            </a:r>
          </a:p>
          <a:p>
            <a:pPr marL="504825" indent="-285750">
              <a:buFont typeface="Wingdings" panose="05000000000000000000" pitchFamily="2" charset="2"/>
              <a:buChar char="ü"/>
            </a:pPr>
            <a:r>
              <a:rPr lang="en-US" sz="1200">
                <a:latin typeface="Arial"/>
                <a:cs typeface="Arial"/>
              </a:rPr>
              <a:t>National</a:t>
            </a:r>
            <a:br>
              <a:rPr lang="en-US" sz="1200">
                <a:latin typeface="Arial"/>
                <a:cs typeface="Arial"/>
              </a:rPr>
            </a:br>
            <a:endParaRPr lang="en-US" sz="1200">
              <a:latin typeface="Arial"/>
              <a:cs typeface="Arial"/>
            </a:endParaRPr>
          </a:p>
          <a:p>
            <a:r>
              <a:rPr lang="en-US" sz="1200" b="1"/>
              <a:t>Timeline Program</a:t>
            </a:r>
          </a:p>
          <a:p>
            <a:pPr marL="504825" indent="-285750">
              <a:buFont typeface="Wingdings" panose="05000000000000000000" pitchFamily="2" charset="2"/>
              <a:buChar char="ü"/>
            </a:pPr>
            <a:r>
              <a:rPr lang="en-US" sz="1200">
                <a:latin typeface="Arial"/>
                <a:cs typeface="Arial"/>
              </a:rPr>
              <a:t>1 </a:t>
            </a:r>
            <a:r>
              <a:rPr lang="en-US" sz="1200" err="1">
                <a:latin typeface="Arial"/>
                <a:cs typeface="Arial"/>
              </a:rPr>
              <a:t>Februari</a:t>
            </a:r>
            <a:r>
              <a:rPr lang="en-US" sz="1200">
                <a:latin typeface="Arial"/>
                <a:cs typeface="Arial"/>
              </a:rPr>
              <a:t> – 9 </a:t>
            </a:r>
            <a:r>
              <a:rPr lang="en-US" sz="1200" err="1">
                <a:latin typeface="Arial"/>
                <a:cs typeface="Arial"/>
              </a:rPr>
              <a:t>Maret</a:t>
            </a:r>
            <a:r>
              <a:rPr lang="en-US" sz="1200">
                <a:latin typeface="Arial"/>
                <a:cs typeface="Arial"/>
              </a:rPr>
              <a:t> 2025</a:t>
            </a:r>
            <a:br>
              <a:rPr lang="en-US" sz="1200">
                <a:latin typeface="Arial"/>
                <a:cs typeface="Arial"/>
              </a:rPr>
            </a:br>
            <a:endParaRPr lang="en-US" sz="1200">
              <a:latin typeface="Arial"/>
              <a:cs typeface="Arial"/>
            </a:endParaRPr>
          </a:p>
          <a:p>
            <a:r>
              <a:rPr lang="en-US" sz="1200" b="1"/>
              <a:t>Toolbox/ Mechanics</a:t>
            </a:r>
          </a:p>
          <a:p>
            <a:pPr marL="504825" indent="-285750">
              <a:buFont typeface="Wingdings" panose="05000000000000000000" pitchFamily="2" charset="2"/>
              <a:buChar char="ü"/>
            </a:pPr>
            <a:r>
              <a:rPr lang="en-US" sz="1200">
                <a:latin typeface="Arial"/>
                <a:cs typeface="Arial"/>
              </a:rPr>
              <a:t>DTE</a:t>
            </a:r>
            <a:endParaRPr lang="en-US" sz="1200"/>
          </a:p>
        </p:txBody>
      </p:sp>
      <p:pic>
        <p:nvPicPr>
          <p:cNvPr id="5" name="Picture 4" descr="A red square with a logo&#10;&#10;Description automatically generated">
            <a:extLst>
              <a:ext uri="{FF2B5EF4-FFF2-40B4-BE49-F238E27FC236}">
                <a16:creationId xmlns:a16="http://schemas.microsoft.com/office/drawing/2014/main" id="{874F6474-1434-678E-8FF8-F21ACE324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34" y="80929"/>
            <a:ext cx="637424" cy="6374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166962C-2109-C31E-D6EE-24717611CE8E}"/>
              </a:ext>
            </a:extLst>
          </p:cNvPr>
          <p:cNvSpPr/>
          <p:nvPr/>
        </p:nvSpPr>
        <p:spPr>
          <a:xfrm>
            <a:off x="2594342" y="5384095"/>
            <a:ext cx="3476846" cy="7296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Detail Panel </a:t>
            </a:r>
            <a:r>
              <a:rPr lang="en-US" b="1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Misi</a:t>
            </a:r>
            <a:endParaRPr lang="en-ID" b="1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336ED5F7-5017-502A-EE3F-E39225B920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982491"/>
              </p:ext>
            </p:extLst>
          </p:nvPr>
        </p:nvGraphicFramePr>
        <p:xfrm>
          <a:off x="4865370" y="5410284"/>
          <a:ext cx="1230630" cy="10853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showAsIcon="1" r:id="rId3" imgW="914608" imgH="806335" progId="Excel.SheetBinaryMacroEnabled.12">
                  <p:embed/>
                </p:oleObj>
              </mc:Choice>
              <mc:Fallback>
                <p:oleObj name="Binary Worksheet" showAsIcon="1" r:id="rId3" imgW="914608" imgH="806335" progId="Excel.SheetBinaryMacroEnabled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336ED5F7-5017-502A-EE3F-E39225B9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65370" y="5410284"/>
                        <a:ext cx="1230630" cy="10853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6805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247BC6CF-0F66-7A99-EC2C-405E8524A492}"/>
              </a:ext>
            </a:extLst>
          </p:cNvPr>
          <p:cNvSpPr txBox="1">
            <a:spLocks/>
          </p:cNvSpPr>
          <p:nvPr/>
        </p:nvSpPr>
        <p:spPr>
          <a:xfrm>
            <a:off x="243094" y="112382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DTE Initiative – </a:t>
            </a:r>
            <a:r>
              <a:rPr lang="en-US" sz="2400">
                <a:latin typeface="Poppins" panose="00000500000000000000" pitchFamily="2" charset="0"/>
                <a:cs typeface="Poppins" panose="00000500000000000000" pitchFamily="2" charset="0"/>
              </a:rPr>
              <a:t>Central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Java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3D78006-3BDE-61F3-1AD9-B71A6A2A0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088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E651AE-9669-D983-98C4-95B46B4EAFB4}"/>
              </a:ext>
            </a:extLst>
          </p:cNvPr>
          <p:cNvSpPr/>
          <p:nvPr/>
        </p:nvSpPr>
        <p:spPr>
          <a:xfrm>
            <a:off x="243094" y="669509"/>
            <a:ext cx="11693015" cy="52691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FC336C-D5EC-E8F9-F5DF-8F07E7C735EF}"/>
              </a:ext>
            </a:extLst>
          </p:cNvPr>
          <p:cNvSpPr txBox="1"/>
          <p:nvPr/>
        </p:nvSpPr>
        <p:spPr>
          <a:xfrm>
            <a:off x="480763" y="635447"/>
            <a:ext cx="1947179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22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I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32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Airing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Initiative</a:t>
            </a:r>
            <a:endParaRPr kumimoji="0" lang="en-ID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6BA8C7-0337-8DC2-2576-076B05C33940}"/>
              </a:ext>
            </a:extLst>
          </p:cNvPr>
          <p:cNvSpPr txBox="1"/>
          <p:nvPr/>
        </p:nvSpPr>
        <p:spPr>
          <a:xfrm>
            <a:off x="2869099" y="674052"/>
            <a:ext cx="12573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4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I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Airing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Digitalization</a:t>
            </a:r>
            <a:endParaRPr kumimoji="0" lang="en-ID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B7E9F9-A5D0-D93B-EE50-B0A58178C0CA}"/>
              </a:ext>
            </a:extLst>
          </p:cNvPr>
          <p:cNvSpPr txBox="1"/>
          <p:nvPr/>
        </p:nvSpPr>
        <p:spPr>
          <a:xfrm>
            <a:off x="4675625" y="666746"/>
            <a:ext cx="1382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I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b="1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Airing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Partnership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5FF50F-3630-EB88-921B-2653118054A1}"/>
              </a:ext>
            </a:extLst>
          </p:cNvPr>
          <p:cNvSpPr txBox="1"/>
          <p:nvPr/>
        </p:nvSpPr>
        <p:spPr>
          <a:xfrm>
            <a:off x="8538949" y="674829"/>
            <a:ext cx="125436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I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Airing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Cricket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223717-26C6-2921-5EB2-0D5B244D7692}"/>
              </a:ext>
            </a:extLst>
          </p:cNvPr>
          <p:cNvSpPr txBox="1"/>
          <p:nvPr/>
        </p:nvSpPr>
        <p:spPr>
          <a:xfrm>
            <a:off x="6607287" y="681358"/>
            <a:ext cx="1382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I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b="1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Airing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9D4AF8-9F28-BCC8-BD59-6F4BC8A10E49}"/>
              </a:ext>
            </a:extLst>
          </p:cNvPr>
          <p:cNvSpPr txBox="1"/>
          <p:nvPr/>
        </p:nvSpPr>
        <p:spPr>
          <a:xfrm>
            <a:off x="10342488" y="688664"/>
            <a:ext cx="125436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I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7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Airing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Private Label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680EBB3-F4D2-AFDA-B74F-9068F8882E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815829"/>
              </p:ext>
            </p:extLst>
          </p:nvPr>
        </p:nvGraphicFramePr>
        <p:xfrm>
          <a:off x="249491" y="1270450"/>
          <a:ext cx="11693017" cy="4607578"/>
        </p:xfrm>
        <a:graphic>
          <a:graphicData uri="http://schemas.openxmlformats.org/drawingml/2006/table">
            <a:tbl>
              <a:tblPr/>
              <a:tblGrid>
                <a:gridCol w="501392">
                  <a:extLst>
                    <a:ext uri="{9D8B030D-6E8A-4147-A177-3AD203B41FA5}">
                      <a16:colId xmlns:a16="http://schemas.microsoft.com/office/drawing/2014/main" val="89686743"/>
                    </a:ext>
                  </a:extLst>
                </a:gridCol>
                <a:gridCol w="1418159">
                  <a:extLst>
                    <a:ext uri="{9D8B030D-6E8A-4147-A177-3AD203B41FA5}">
                      <a16:colId xmlns:a16="http://schemas.microsoft.com/office/drawing/2014/main" val="2427161156"/>
                    </a:ext>
                  </a:extLst>
                </a:gridCol>
                <a:gridCol w="1956391">
                  <a:extLst>
                    <a:ext uri="{9D8B030D-6E8A-4147-A177-3AD203B41FA5}">
                      <a16:colId xmlns:a16="http://schemas.microsoft.com/office/drawing/2014/main" val="3194638309"/>
                    </a:ext>
                  </a:extLst>
                </a:gridCol>
                <a:gridCol w="1600559">
                  <a:extLst>
                    <a:ext uri="{9D8B030D-6E8A-4147-A177-3AD203B41FA5}">
                      <a16:colId xmlns:a16="http://schemas.microsoft.com/office/drawing/2014/main" val="527980059"/>
                    </a:ext>
                  </a:extLst>
                </a:gridCol>
                <a:gridCol w="1053346">
                  <a:extLst>
                    <a:ext uri="{9D8B030D-6E8A-4147-A177-3AD203B41FA5}">
                      <a16:colId xmlns:a16="http://schemas.microsoft.com/office/drawing/2014/main" val="2803276613"/>
                    </a:ext>
                  </a:extLst>
                </a:gridCol>
                <a:gridCol w="744279">
                  <a:extLst>
                    <a:ext uri="{9D8B030D-6E8A-4147-A177-3AD203B41FA5}">
                      <a16:colId xmlns:a16="http://schemas.microsoft.com/office/drawing/2014/main" val="1012918978"/>
                    </a:ext>
                  </a:extLst>
                </a:gridCol>
                <a:gridCol w="563525">
                  <a:extLst>
                    <a:ext uri="{9D8B030D-6E8A-4147-A177-3AD203B41FA5}">
                      <a16:colId xmlns:a16="http://schemas.microsoft.com/office/drawing/2014/main" val="3269003307"/>
                    </a:ext>
                  </a:extLst>
                </a:gridCol>
                <a:gridCol w="563526">
                  <a:extLst>
                    <a:ext uri="{9D8B030D-6E8A-4147-A177-3AD203B41FA5}">
                      <a16:colId xmlns:a16="http://schemas.microsoft.com/office/drawing/2014/main" val="229129897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8697494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6054217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80249447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401958924"/>
                    </a:ext>
                  </a:extLst>
                </a:gridCol>
              </a:tblGrid>
              <a:tr h="41506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Panel Selection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Mechanics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Potential Reward  (Monthly)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Freq. Airing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Level Affected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4190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Coin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XP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Level 1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Level 2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Level 3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Level 4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37277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Digitalization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Weekly Login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All Population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Login apps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160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7089873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Digitalization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B2B Biweekly (Level 1)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Selected Panel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Transaction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292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887633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Digitalization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B2B Biweekly (Level 2-4)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Selected Panel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Transaction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192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377194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Digitalization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Thematic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All Population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Education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331074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Partnership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GarudaFood</a:t>
                      </a: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Shelf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Selected Panel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525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841405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Partnership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Coca Cola Chiller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Selected Panel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682367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CC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MKC12 (Level 1-2) </a:t>
                      </a:r>
                      <a:r>
                        <a:rPr lang="en-ID" sz="900" b="0" i="1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PWT only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Selected Panel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PVP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708911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CC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MKC2 (Level 3-4) </a:t>
                      </a:r>
                      <a:r>
                        <a:rPr lang="en-ID" sz="900" b="0" i="1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PWT only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Selected Panel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PVP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088806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CC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SGO12 (Level 1-2)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Selected Panel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PVP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0447837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CC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SGO12 (Level 3-4)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Selected Panel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PVP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560370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CC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MLA16 (Level 1-2)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Selected Panel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PVP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17817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CC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MLA16 (Level 3-4)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Selected Panel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PVP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611197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CC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Survey RSP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All Population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RSP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240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300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7779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247BC6CF-0F66-7A99-EC2C-405E8524A492}"/>
              </a:ext>
            </a:extLst>
          </p:cNvPr>
          <p:cNvSpPr txBox="1">
            <a:spLocks/>
          </p:cNvSpPr>
          <p:nvPr/>
        </p:nvSpPr>
        <p:spPr>
          <a:xfrm>
            <a:off x="243094" y="112382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DTE Initiative – </a:t>
            </a:r>
            <a:r>
              <a:rPr lang="en-US" sz="2400">
                <a:latin typeface="Poppins" panose="00000500000000000000" pitchFamily="2" charset="0"/>
                <a:cs typeface="Poppins" panose="00000500000000000000" pitchFamily="2" charset="0"/>
              </a:rPr>
              <a:t>Central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Java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3D78006-3BDE-61F3-1AD9-B71A6A2A0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088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9585532-D02F-4AF6-4548-992BB8BF2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4674"/>
              </p:ext>
            </p:extLst>
          </p:nvPr>
        </p:nvGraphicFramePr>
        <p:xfrm>
          <a:off x="249491" y="1270450"/>
          <a:ext cx="11693017" cy="3362378"/>
        </p:xfrm>
        <a:graphic>
          <a:graphicData uri="http://schemas.openxmlformats.org/drawingml/2006/table">
            <a:tbl>
              <a:tblPr/>
              <a:tblGrid>
                <a:gridCol w="501392">
                  <a:extLst>
                    <a:ext uri="{9D8B030D-6E8A-4147-A177-3AD203B41FA5}">
                      <a16:colId xmlns:a16="http://schemas.microsoft.com/office/drawing/2014/main" val="89686743"/>
                    </a:ext>
                  </a:extLst>
                </a:gridCol>
                <a:gridCol w="1418159">
                  <a:extLst>
                    <a:ext uri="{9D8B030D-6E8A-4147-A177-3AD203B41FA5}">
                      <a16:colId xmlns:a16="http://schemas.microsoft.com/office/drawing/2014/main" val="2427161156"/>
                    </a:ext>
                  </a:extLst>
                </a:gridCol>
                <a:gridCol w="1956391">
                  <a:extLst>
                    <a:ext uri="{9D8B030D-6E8A-4147-A177-3AD203B41FA5}">
                      <a16:colId xmlns:a16="http://schemas.microsoft.com/office/drawing/2014/main" val="3194638309"/>
                    </a:ext>
                  </a:extLst>
                </a:gridCol>
                <a:gridCol w="1600559">
                  <a:extLst>
                    <a:ext uri="{9D8B030D-6E8A-4147-A177-3AD203B41FA5}">
                      <a16:colId xmlns:a16="http://schemas.microsoft.com/office/drawing/2014/main" val="527980059"/>
                    </a:ext>
                  </a:extLst>
                </a:gridCol>
                <a:gridCol w="1053346">
                  <a:extLst>
                    <a:ext uri="{9D8B030D-6E8A-4147-A177-3AD203B41FA5}">
                      <a16:colId xmlns:a16="http://schemas.microsoft.com/office/drawing/2014/main" val="2803276613"/>
                    </a:ext>
                  </a:extLst>
                </a:gridCol>
                <a:gridCol w="744279">
                  <a:extLst>
                    <a:ext uri="{9D8B030D-6E8A-4147-A177-3AD203B41FA5}">
                      <a16:colId xmlns:a16="http://schemas.microsoft.com/office/drawing/2014/main" val="1012918978"/>
                    </a:ext>
                  </a:extLst>
                </a:gridCol>
                <a:gridCol w="563525">
                  <a:extLst>
                    <a:ext uri="{9D8B030D-6E8A-4147-A177-3AD203B41FA5}">
                      <a16:colId xmlns:a16="http://schemas.microsoft.com/office/drawing/2014/main" val="3269003307"/>
                    </a:ext>
                  </a:extLst>
                </a:gridCol>
                <a:gridCol w="563526">
                  <a:extLst>
                    <a:ext uri="{9D8B030D-6E8A-4147-A177-3AD203B41FA5}">
                      <a16:colId xmlns:a16="http://schemas.microsoft.com/office/drawing/2014/main" val="2291298979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8697494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6054217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80249447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401958924"/>
                    </a:ext>
                  </a:extLst>
                </a:gridCol>
              </a:tblGrid>
              <a:tr h="41506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Panel Selection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Mechanics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Potential Reward  (Monthly)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Freq. Airing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Level Affected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4190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Coin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XP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Level 1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Level 2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Level 3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Level 4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37277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Cricket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Selected Panel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071224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Cricket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CAP (</a:t>
                      </a:r>
                      <a:r>
                        <a:rPr lang="en-ID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Pengganti</a:t>
                      </a: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Selected Panel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172620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Cricket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 (</a:t>
                      </a:r>
                      <a:r>
                        <a:rPr lang="en-ID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Pengganti</a:t>
                      </a: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Selected Panel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PCP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150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763548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B2B (Tier 1-4)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Selected Panel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Transaction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241929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 Shelf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Selected Panel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671416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 Chiller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Selected Panel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355142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 (</a:t>
                      </a:r>
                      <a:r>
                        <a:rPr lang="en-ID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Pengganti</a:t>
                      </a: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Selected Panel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708911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 &amp; </a:t>
                      </a:r>
                      <a:r>
                        <a:rPr lang="en-ID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Prrice</a:t>
                      </a: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Campaign (</a:t>
                      </a:r>
                      <a:r>
                        <a:rPr lang="en-ID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Pengganti</a:t>
                      </a: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Selected Panel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088806"/>
                  </a:ext>
                </a:extLst>
              </a:tr>
              <a:tr h="311300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Product Bundling (</a:t>
                      </a:r>
                      <a:r>
                        <a:rPr lang="en-ID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Pengganti</a:t>
                      </a: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Selected Panel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905959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DD4D48D-DE80-D7CC-7FBD-1DBB3797FEC5}"/>
              </a:ext>
            </a:extLst>
          </p:cNvPr>
          <p:cNvSpPr/>
          <p:nvPr/>
        </p:nvSpPr>
        <p:spPr>
          <a:xfrm>
            <a:off x="243094" y="669509"/>
            <a:ext cx="11693015" cy="52691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E49A12-639C-DB79-0778-ACF586ECA0D3}"/>
              </a:ext>
            </a:extLst>
          </p:cNvPr>
          <p:cNvSpPr txBox="1"/>
          <p:nvPr/>
        </p:nvSpPr>
        <p:spPr>
          <a:xfrm>
            <a:off x="480763" y="635447"/>
            <a:ext cx="1947179" cy="623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22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I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32</a:t>
            </a: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Airing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Initiative</a:t>
            </a:r>
            <a:endParaRPr kumimoji="0" lang="en-ID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23DEE0-0955-3C65-EF3B-8F63FD48DBED}"/>
              </a:ext>
            </a:extLst>
          </p:cNvPr>
          <p:cNvSpPr txBox="1"/>
          <p:nvPr/>
        </p:nvSpPr>
        <p:spPr>
          <a:xfrm>
            <a:off x="2869099" y="674052"/>
            <a:ext cx="12573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4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I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Airing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Digitalization</a:t>
            </a:r>
            <a:endParaRPr kumimoji="0" lang="en-ID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07EB79-13A1-020D-4C91-4C0EC1466432}"/>
              </a:ext>
            </a:extLst>
          </p:cNvPr>
          <p:cNvSpPr txBox="1"/>
          <p:nvPr/>
        </p:nvSpPr>
        <p:spPr>
          <a:xfrm>
            <a:off x="4675625" y="666746"/>
            <a:ext cx="1382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I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b="1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Airing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Partnership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E2B75F-8092-EB81-B124-132059CAEE7D}"/>
              </a:ext>
            </a:extLst>
          </p:cNvPr>
          <p:cNvSpPr txBox="1"/>
          <p:nvPr/>
        </p:nvSpPr>
        <p:spPr>
          <a:xfrm>
            <a:off x="8538949" y="674829"/>
            <a:ext cx="125436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I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Airing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Cricket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795DA5-60C9-AEF8-F6E5-5F2F3D3FBEA9}"/>
              </a:ext>
            </a:extLst>
          </p:cNvPr>
          <p:cNvSpPr txBox="1"/>
          <p:nvPr/>
        </p:nvSpPr>
        <p:spPr>
          <a:xfrm>
            <a:off x="6607287" y="681358"/>
            <a:ext cx="1382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7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I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lang="en-US" b="1">
                <a:solidFill>
                  <a:prstClr val="black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13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Airing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19955D-3B96-DAE0-1CEB-B885FB8B7A9D}"/>
              </a:ext>
            </a:extLst>
          </p:cNvPr>
          <p:cNvSpPr txBox="1"/>
          <p:nvPr/>
        </p:nvSpPr>
        <p:spPr>
          <a:xfrm>
            <a:off x="10342488" y="688664"/>
            <a:ext cx="125436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6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I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7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Airing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Private Label</a:t>
            </a:r>
          </a:p>
        </p:txBody>
      </p:sp>
    </p:spTree>
    <p:extLst>
      <p:ext uri="{BB962C8B-B14F-4D97-AF65-F5344CB8AC3E}">
        <p14:creationId xmlns:p14="http://schemas.microsoft.com/office/powerpoint/2010/main" val="376510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247BC6CF-0F66-7A99-EC2C-405E8524A492}"/>
              </a:ext>
            </a:extLst>
          </p:cNvPr>
          <p:cNvSpPr txBox="1">
            <a:spLocks/>
          </p:cNvSpPr>
          <p:nvPr/>
        </p:nvSpPr>
        <p:spPr>
          <a:xfrm>
            <a:off x="243094" y="112382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Summary Panel – </a:t>
            </a:r>
            <a:r>
              <a:rPr lang="en-US" sz="2400">
                <a:latin typeface="Poppins" panose="00000500000000000000" pitchFamily="2" charset="0"/>
                <a:cs typeface="Poppins" panose="00000500000000000000" pitchFamily="2" charset="0"/>
              </a:rPr>
              <a:t>Central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Java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3D78006-3BDE-61F3-1AD9-B71A6A2A0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088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E2A2EC-9CE0-8F24-7E07-56E64797C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794472"/>
              </p:ext>
            </p:extLst>
          </p:nvPr>
        </p:nvGraphicFramePr>
        <p:xfrm>
          <a:off x="189331" y="661022"/>
          <a:ext cx="11643442" cy="5374325"/>
        </p:xfrm>
        <a:graphic>
          <a:graphicData uri="http://schemas.openxmlformats.org/drawingml/2006/table">
            <a:tbl>
              <a:tblPr/>
              <a:tblGrid>
                <a:gridCol w="636011">
                  <a:extLst>
                    <a:ext uri="{9D8B030D-6E8A-4147-A177-3AD203B41FA5}">
                      <a16:colId xmlns:a16="http://schemas.microsoft.com/office/drawing/2014/main" val="89686743"/>
                    </a:ext>
                  </a:extLst>
                </a:gridCol>
                <a:gridCol w="1668028">
                  <a:extLst>
                    <a:ext uri="{9D8B030D-6E8A-4147-A177-3AD203B41FA5}">
                      <a16:colId xmlns:a16="http://schemas.microsoft.com/office/drawing/2014/main" val="2427161156"/>
                    </a:ext>
                  </a:extLst>
                </a:gridCol>
                <a:gridCol w="3404985">
                  <a:extLst>
                    <a:ext uri="{9D8B030D-6E8A-4147-A177-3AD203B41FA5}">
                      <a16:colId xmlns:a16="http://schemas.microsoft.com/office/drawing/2014/main" val="3194638309"/>
                    </a:ext>
                  </a:extLst>
                </a:gridCol>
                <a:gridCol w="714828">
                  <a:extLst>
                    <a:ext uri="{9D8B030D-6E8A-4147-A177-3AD203B41FA5}">
                      <a16:colId xmlns:a16="http://schemas.microsoft.com/office/drawing/2014/main" val="2291298979"/>
                    </a:ext>
                  </a:extLst>
                </a:gridCol>
                <a:gridCol w="1043918">
                  <a:extLst>
                    <a:ext uri="{9D8B030D-6E8A-4147-A177-3AD203B41FA5}">
                      <a16:colId xmlns:a16="http://schemas.microsoft.com/office/drawing/2014/main" val="869749405"/>
                    </a:ext>
                  </a:extLst>
                </a:gridCol>
                <a:gridCol w="1043918">
                  <a:extLst>
                    <a:ext uri="{9D8B030D-6E8A-4147-A177-3AD203B41FA5}">
                      <a16:colId xmlns:a16="http://schemas.microsoft.com/office/drawing/2014/main" val="60542173"/>
                    </a:ext>
                  </a:extLst>
                </a:gridCol>
                <a:gridCol w="1043918">
                  <a:extLst>
                    <a:ext uri="{9D8B030D-6E8A-4147-A177-3AD203B41FA5}">
                      <a16:colId xmlns:a16="http://schemas.microsoft.com/office/drawing/2014/main" val="2802494473"/>
                    </a:ext>
                  </a:extLst>
                </a:gridCol>
                <a:gridCol w="1043918">
                  <a:extLst>
                    <a:ext uri="{9D8B030D-6E8A-4147-A177-3AD203B41FA5}">
                      <a16:colId xmlns:a16="http://schemas.microsoft.com/office/drawing/2014/main" val="3401958924"/>
                    </a:ext>
                  </a:extLst>
                </a:gridCol>
                <a:gridCol w="1043918">
                  <a:extLst>
                    <a:ext uri="{9D8B030D-6E8A-4147-A177-3AD203B41FA5}">
                      <a16:colId xmlns:a16="http://schemas.microsoft.com/office/drawing/2014/main" val="3521238689"/>
                    </a:ext>
                  </a:extLst>
                </a:gridCol>
              </a:tblGrid>
              <a:tr h="43914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Freq. Airing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Level Affected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Total</a:t>
                      </a:r>
                      <a:endParaRPr lang="en-ID" sz="1000" b="1" i="0" u="none" strike="noStrike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419017"/>
                  </a:ext>
                </a:extLst>
              </a:tr>
              <a:tr h="324211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Level 1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Level 2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Level 3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Level 4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ID" sz="900" b="1" i="0" u="none" strike="noStrike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37277"/>
                  </a:ext>
                </a:extLst>
              </a:tr>
              <a:tr h="329355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Population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866443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Digitalization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Weekly Login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23.821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5.556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2.898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4.059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36.334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7089873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Digitalization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B2B Biweekly (Level 1)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23.821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23.821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711588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Digitalization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B2B Biweekly (Level 2-4)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5.556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2.898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4.059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12.513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887633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Digitalization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Thematic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23.821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5.556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2.898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4.059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36.334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331074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Partnership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GarudaFood</a:t>
                      </a: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Shelf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144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590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1.218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3.513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5.465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416475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Partnership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Coca Cola Chiller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405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600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898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3.296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5.199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920602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CC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MKC12 (Level 1-2) </a:t>
                      </a:r>
                      <a:r>
                        <a:rPr lang="en-ID" sz="900" b="0" i="1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PWT only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2.820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510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3.330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071224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CC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MKC2 (Level 3-4) </a:t>
                      </a:r>
                      <a:r>
                        <a:rPr lang="en-ID" sz="900" b="0" i="1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PWT only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277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713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990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172620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CC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SGO12 (Level 1-2)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21.001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5.046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26.047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6763548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CC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SGO12 (Level 3-4)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2.621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3.346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5.967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0241929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CC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MLA16 (Level 1-2)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23.821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5.556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29.377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105038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CC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MLA16 (Level 3-4)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2.898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4.059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6.957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770823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CC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Survey RSP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23.821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5.556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2.898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4.059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36.334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190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3492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4">
            <a:extLst>
              <a:ext uri="{FF2B5EF4-FFF2-40B4-BE49-F238E27FC236}">
                <a16:creationId xmlns:a16="http://schemas.microsoft.com/office/drawing/2014/main" id="{247BC6CF-0F66-7A99-EC2C-405E8524A492}"/>
              </a:ext>
            </a:extLst>
          </p:cNvPr>
          <p:cNvSpPr txBox="1">
            <a:spLocks/>
          </p:cNvSpPr>
          <p:nvPr/>
        </p:nvSpPr>
        <p:spPr>
          <a:xfrm>
            <a:off x="243094" y="112382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Summary Panel – </a:t>
            </a:r>
            <a:r>
              <a:rPr lang="en-US" sz="2400">
                <a:latin typeface="Poppins" panose="00000500000000000000" pitchFamily="2" charset="0"/>
                <a:cs typeface="Poppins" panose="00000500000000000000" pitchFamily="2" charset="0"/>
              </a:rPr>
              <a:t>Central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 Java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3D78006-3BDE-61F3-1AD9-B71A6A2A0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088" y="18256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FE2A2EC-9CE0-8F24-7E07-56E64797CA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340407"/>
              </p:ext>
            </p:extLst>
          </p:nvPr>
        </p:nvGraphicFramePr>
        <p:xfrm>
          <a:off x="189331" y="661022"/>
          <a:ext cx="11643442" cy="4056905"/>
        </p:xfrm>
        <a:graphic>
          <a:graphicData uri="http://schemas.openxmlformats.org/drawingml/2006/table">
            <a:tbl>
              <a:tblPr/>
              <a:tblGrid>
                <a:gridCol w="636011">
                  <a:extLst>
                    <a:ext uri="{9D8B030D-6E8A-4147-A177-3AD203B41FA5}">
                      <a16:colId xmlns:a16="http://schemas.microsoft.com/office/drawing/2014/main" val="89686743"/>
                    </a:ext>
                  </a:extLst>
                </a:gridCol>
                <a:gridCol w="1668028">
                  <a:extLst>
                    <a:ext uri="{9D8B030D-6E8A-4147-A177-3AD203B41FA5}">
                      <a16:colId xmlns:a16="http://schemas.microsoft.com/office/drawing/2014/main" val="2427161156"/>
                    </a:ext>
                  </a:extLst>
                </a:gridCol>
                <a:gridCol w="3404985">
                  <a:extLst>
                    <a:ext uri="{9D8B030D-6E8A-4147-A177-3AD203B41FA5}">
                      <a16:colId xmlns:a16="http://schemas.microsoft.com/office/drawing/2014/main" val="3194638309"/>
                    </a:ext>
                  </a:extLst>
                </a:gridCol>
                <a:gridCol w="714828">
                  <a:extLst>
                    <a:ext uri="{9D8B030D-6E8A-4147-A177-3AD203B41FA5}">
                      <a16:colId xmlns:a16="http://schemas.microsoft.com/office/drawing/2014/main" val="2291298979"/>
                    </a:ext>
                  </a:extLst>
                </a:gridCol>
                <a:gridCol w="1043918">
                  <a:extLst>
                    <a:ext uri="{9D8B030D-6E8A-4147-A177-3AD203B41FA5}">
                      <a16:colId xmlns:a16="http://schemas.microsoft.com/office/drawing/2014/main" val="869749405"/>
                    </a:ext>
                  </a:extLst>
                </a:gridCol>
                <a:gridCol w="1043918">
                  <a:extLst>
                    <a:ext uri="{9D8B030D-6E8A-4147-A177-3AD203B41FA5}">
                      <a16:colId xmlns:a16="http://schemas.microsoft.com/office/drawing/2014/main" val="60542173"/>
                    </a:ext>
                  </a:extLst>
                </a:gridCol>
                <a:gridCol w="1043918">
                  <a:extLst>
                    <a:ext uri="{9D8B030D-6E8A-4147-A177-3AD203B41FA5}">
                      <a16:colId xmlns:a16="http://schemas.microsoft.com/office/drawing/2014/main" val="2802494473"/>
                    </a:ext>
                  </a:extLst>
                </a:gridCol>
                <a:gridCol w="1043918">
                  <a:extLst>
                    <a:ext uri="{9D8B030D-6E8A-4147-A177-3AD203B41FA5}">
                      <a16:colId xmlns:a16="http://schemas.microsoft.com/office/drawing/2014/main" val="3401958924"/>
                    </a:ext>
                  </a:extLst>
                </a:gridCol>
                <a:gridCol w="1043918">
                  <a:extLst>
                    <a:ext uri="{9D8B030D-6E8A-4147-A177-3AD203B41FA5}">
                      <a16:colId xmlns:a16="http://schemas.microsoft.com/office/drawing/2014/main" val="3521238689"/>
                    </a:ext>
                  </a:extLst>
                </a:gridCol>
              </a:tblGrid>
              <a:tr h="43914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No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Freq. Airing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Level Affected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Total</a:t>
                      </a:r>
                      <a:endParaRPr lang="en-ID" sz="1000" b="1" i="0" u="none" strike="noStrike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419017"/>
                  </a:ext>
                </a:extLst>
              </a:tr>
              <a:tr h="324211"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Level 1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Level 2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Level 3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0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Level 4</a:t>
                      </a: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ID" sz="900" b="1" i="0" u="none" strike="noStrike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8449" marR="8449" marT="8449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37277"/>
                  </a:ext>
                </a:extLst>
              </a:tr>
              <a:tr h="329355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Population</a:t>
                      </a:r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ID" sz="800" b="0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b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ID" sz="1000" b="1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866443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Cricket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5.556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2.898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4.059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12.513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711588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Cricket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CAP (</a:t>
                      </a:r>
                      <a:r>
                        <a:rPr lang="en-ID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9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Pengganti</a:t>
                      </a:r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4.966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1.680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546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7.192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912869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Cricket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 (Misi Pengganti)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5.556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2.898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4.059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12.513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887633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B2B (Tier 1-4)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5.556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2.898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4.059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12.513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331074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 Shelf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5.556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2.898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4.059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12.513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920602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 Chiller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3.280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2.090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3.648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9.018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682367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 (Misi Pengganti)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2.276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808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411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3.495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986068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 &amp; Prrice Campaign (Misi Pengganti)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4.956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2.000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763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7.719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889132"/>
                  </a:ext>
                </a:extLst>
              </a:tr>
              <a:tr h="329355"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Product Bundling (Misi Pengganti)</a:t>
                      </a:r>
                    </a:p>
                  </a:txBody>
                  <a:tcPr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5.556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2.898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4.059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12.513</a:t>
                      </a:r>
                    </a:p>
                  </a:txBody>
                  <a:tcPr marL="6350" marR="6350" marT="6350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0712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310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6B1B547A-4637-8EEB-DFBB-E1A81F310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61" y="1206518"/>
            <a:ext cx="2264727" cy="4908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4837734"/>
              </p:ext>
            </p:extLst>
          </p:nvPr>
        </p:nvGraphicFramePr>
        <p:xfrm>
          <a:off x="3078080" y="981790"/>
          <a:ext cx="8816200" cy="5442486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Digitalization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Login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Buka Aplikasi AYO, dapatkan XPnya!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7657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1" err="1"/>
                        <a:t>Deskripsi</a:t>
                      </a:r>
                      <a:r>
                        <a:rPr lang="en-ID" sz="1000" b="1"/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/>
                        <a:t>Hai </a:t>
                      </a:r>
                      <a:r>
                        <a:rPr lang="en-ID" sz="1000" err="1"/>
                        <a:t>Sahabat</a:t>
                      </a:r>
                      <a:r>
                        <a:rPr lang="en-ID" sz="1000"/>
                        <a:t> SRC!</a:t>
                      </a:r>
                    </a:p>
                    <a:p>
                      <a:r>
                        <a:rPr lang="en-ID" sz="1000"/>
                        <a:t>Buka </a:t>
                      </a:r>
                      <a:r>
                        <a:rPr lang="en-ID" sz="1000" err="1"/>
                        <a:t>aplikasi</a:t>
                      </a:r>
                      <a:r>
                        <a:rPr lang="en-ID" sz="1000"/>
                        <a:t> AYO </a:t>
                      </a:r>
                      <a:r>
                        <a:rPr lang="en-ID" sz="1000" err="1"/>
                        <a:t>secara</a:t>
                      </a:r>
                      <a:r>
                        <a:rPr lang="en-ID" sz="1000"/>
                        <a:t> rutin </a:t>
                      </a:r>
                      <a:r>
                        <a:rPr lang="en-ID" sz="1000" err="1"/>
                        <a:t>setiap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minggu</a:t>
                      </a:r>
                      <a:r>
                        <a:rPr lang="en-ID" sz="1000"/>
                        <a:t> dan </a:t>
                      </a:r>
                      <a:r>
                        <a:rPr lang="en-ID" sz="1000" err="1"/>
                        <a:t>raih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kesempatan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mendapatkan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hingga</a:t>
                      </a:r>
                      <a:r>
                        <a:rPr lang="en-ID" sz="1000"/>
                        <a:t> 160 XP di </a:t>
                      </a:r>
                      <a:r>
                        <a:rPr lang="en-ID" sz="1000" err="1"/>
                        <a:t>setiap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bulannya</a:t>
                      </a:r>
                      <a:endParaRPr lang="en-ID" sz="1000"/>
                    </a:p>
                    <a:p>
                      <a:r>
                        <a:rPr lang="en-ID" sz="1000" err="1"/>
                        <a:t>Sahabat</a:t>
                      </a:r>
                      <a:r>
                        <a:rPr lang="en-ID" sz="1000"/>
                        <a:t> SRC </a:t>
                      </a:r>
                      <a:r>
                        <a:rPr lang="en-ID" sz="1000" err="1"/>
                        <a:t>berkesempatan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mendapatkan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tambahan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hingga</a:t>
                      </a:r>
                      <a:r>
                        <a:rPr lang="en-ID" sz="1000"/>
                        <a:t> 40 XP </a:t>
                      </a:r>
                      <a:r>
                        <a:rPr lang="en-ID" sz="1000" err="1"/>
                        <a:t>jika</a:t>
                      </a:r>
                      <a:r>
                        <a:rPr lang="en-ID" sz="1000"/>
                        <a:t> minimal 4 </a:t>
                      </a:r>
                      <a:r>
                        <a:rPr lang="en-ID" sz="1000" err="1"/>
                        <a:t>anggota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paguyuban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mengerjakan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misi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ini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Start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03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End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02 </a:t>
                      </a:r>
                      <a:r>
                        <a:rPr lang="en-US" sz="1000" err="1"/>
                        <a:t>Maret</a:t>
                      </a:r>
                      <a:r>
                        <a:rPr lang="en-US" sz="1000"/>
                        <a:t>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Reward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160 XP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25320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 err="1"/>
                        <a:t>Instruksi</a:t>
                      </a:r>
                      <a:r>
                        <a:rPr lang="en-US" sz="1000" b="1"/>
                        <a:t> </a:t>
                      </a:r>
                      <a:r>
                        <a:rPr lang="en-US" sz="1000" b="1" err="1"/>
                        <a:t>Misi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err="1"/>
                        <a:t>Dengan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mengerjakan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misi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ini</a:t>
                      </a:r>
                      <a:r>
                        <a:rPr lang="en-ID" sz="1000"/>
                        <a:t> dan </a:t>
                      </a:r>
                      <a:r>
                        <a:rPr lang="en-ID" sz="1000" err="1"/>
                        <a:t>membuka</a:t>
                      </a:r>
                      <a:r>
                        <a:rPr lang="en-ID" sz="1000"/>
                        <a:t> rutin </a:t>
                      </a:r>
                      <a:r>
                        <a:rPr lang="en-ID" sz="1000" err="1"/>
                        <a:t>aplikasi</a:t>
                      </a:r>
                      <a:r>
                        <a:rPr lang="en-ID" sz="1000"/>
                        <a:t> AYO </a:t>
                      </a:r>
                      <a:r>
                        <a:rPr lang="en-ID" sz="1000" err="1"/>
                        <a:t>setiap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minggu</a:t>
                      </a:r>
                      <a:r>
                        <a:rPr lang="en-ID" sz="1000"/>
                        <a:t>, </a:t>
                      </a:r>
                      <a:r>
                        <a:rPr lang="en-ID" sz="1000" err="1"/>
                        <a:t>Sahabat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bisa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berkesempatan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mendapatkan</a:t>
                      </a:r>
                      <a:r>
                        <a:rPr lang="en-ID" sz="1000"/>
                        <a:t> 160 XP </a:t>
                      </a:r>
                      <a:r>
                        <a:rPr lang="en-ID" sz="1000" err="1"/>
                        <a:t>serta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manfaat</a:t>
                      </a:r>
                      <a:r>
                        <a:rPr lang="en-ID" sz="1000"/>
                        <a:t> lain </a:t>
                      </a:r>
                      <a:r>
                        <a:rPr lang="en-ID" sz="1000" err="1"/>
                        <a:t>dari</a:t>
                      </a:r>
                      <a:r>
                        <a:rPr lang="en-ID" sz="1000"/>
                        <a:t> AYO Toko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747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/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Login 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Aplikasi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AYO 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Toko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  <p:pic>
        <p:nvPicPr>
          <p:cNvPr id="6" name="Picture 5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B7AC7704-56CA-4548-3352-2E7AD596F87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167873" y="981790"/>
            <a:ext cx="2530545" cy="532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41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9A76B5D7-E891-C7A8-1972-858AF5C3B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887" y="1206441"/>
            <a:ext cx="2262536" cy="4904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68097"/>
              </p:ext>
            </p:extLst>
          </p:nvPr>
        </p:nvGraphicFramePr>
        <p:xfrm>
          <a:off x="3067194" y="981790"/>
          <a:ext cx="8816200" cy="5216850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Digitalization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B2B (Level 1)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da-DK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Ayo Belanja Pake AYO!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7657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1" err="1"/>
                        <a:t>Deskripsi</a:t>
                      </a:r>
                      <a:r>
                        <a:rPr lang="en-ID" sz="1000" b="1"/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Hai </a:t>
                      </a:r>
                      <a:r>
                        <a:rPr lang="en-US" sz="1000" err="1"/>
                        <a:t>Sahabat</a:t>
                      </a:r>
                      <a:r>
                        <a:rPr lang="en-US" sz="1000"/>
                        <a:t> SRC!</a:t>
                      </a:r>
                    </a:p>
                    <a:p>
                      <a:endParaRPr lang="en-US" sz="1000"/>
                    </a:p>
                    <a:p>
                      <a:r>
                        <a:rPr lang="en-US" sz="1000"/>
                        <a:t>Yuk </a:t>
                      </a:r>
                      <a:r>
                        <a:rPr lang="en-US" sz="1000" err="1"/>
                        <a:t>gunakan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fitur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belanja</a:t>
                      </a:r>
                      <a:r>
                        <a:rPr lang="en-US" sz="1000"/>
                        <a:t> AYO </a:t>
                      </a:r>
                      <a:r>
                        <a:rPr lang="en-US" sz="1000" err="1"/>
                        <a:t>untuk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memenuhi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kebutuhan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tokomu</a:t>
                      </a:r>
                      <a:r>
                        <a:rPr lang="en-US" sz="1000"/>
                        <a:t>!</a:t>
                      </a:r>
                    </a:p>
                    <a:p>
                      <a:r>
                        <a:rPr lang="en-US" sz="1000" err="1"/>
                        <a:t>Kesempatan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dapat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hingga</a:t>
                      </a:r>
                      <a:r>
                        <a:rPr lang="en-US" sz="1000"/>
                        <a:t> 96 XP* dan </a:t>
                      </a:r>
                      <a:r>
                        <a:rPr lang="en-US" sz="1000" err="1"/>
                        <a:t>tambahan</a:t>
                      </a:r>
                      <a:r>
                        <a:rPr lang="en-US" sz="1000"/>
                        <a:t> 50 XP </a:t>
                      </a:r>
                      <a:r>
                        <a:rPr lang="en-US" sz="1000" err="1"/>
                        <a:t>jika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Sahabat</a:t>
                      </a:r>
                      <a:r>
                        <a:rPr lang="en-US" sz="1000"/>
                        <a:t> juga </a:t>
                      </a:r>
                      <a:r>
                        <a:rPr lang="en-US" sz="1000" err="1"/>
                        <a:t>membeli</a:t>
                      </a:r>
                      <a:r>
                        <a:rPr lang="en-US" sz="1000"/>
                        <a:t> 1 </a:t>
                      </a:r>
                      <a:r>
                        <a:rPr lang="en-US" sz="1000" err="1"/>
                        <a:t>karton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produk</a:t>
                      </a:r>
                      <a:r>
                        <a:rPr lang="en-US" sz="1000"/>
                        <a:t> air ES.ER.CE.</a:t>
                      </a:r>
                    </a:p>
                    <a:p>
                      <a:endParaRPr lang="en-ID" sz="1000"/>
                    </a:p>
                    <a:p>
                      <a:r>
                        <a:rPr lang="en-ID" sz="1000"/>
                        <a:t>.</a:t>
                      </a:r>
                      <a:r>
                        <a:rPr lang="en-ID" sz="1000" err="1"/>
                        <a:t>Sahabat</a:t>
                      </a:r>
                      <a:r>
                        <a:rPr lang="en-ID" sz="1000"/>
                        <a:t> SRC </a:t>
                      </a:r>
                      <a:r>
                        <a:rPr lang="en-ID" sz="1000" err="1"/>
                        <a:t>berkesempatan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mendapatkan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tambahan</a:t>
                      </a:r>
                      <a:r>
                        <a:rPr lang="en-ID" sz="1000"/>
                        <a:t> 24 XP </a:t>
                      </a:r>
                      <a:r>
                        <a:rPr lang="en-ID" sz="1000" err="1"/>
                        <a:t>jika</a:t>
                      </a:r>
                      <a:r>
                        <a:rPr lang="en-ID" sz="1000"/>
                        <a:t> minimal 4 </a:t>
                      </a:r>
                      <a:r>
                        <a:rPr lang="en-ID" sz="1000" err="1"/>
                        <a:t>anggota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paguyuban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mengerjakan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misi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ini</a:t>
                      </a:r>
                      <a:r>
                        <a:rPr lang="en-ID" sz="1000"/>
                        <a:t>, </a:t>
                      </a:r>
                    </a:p>
                    <a:p>
                      <a:r>
                        <a:rPr lang="en-ID" sz="1000"/>
                        <a:t>*Akan </a:t>
                      </a:r>
                      <a:r>
                        <a:rPr lang="en-ID" sz="1000" err="1"/>
                        <a:t>dilakukan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verifikasi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terlebih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dahulu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Start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err="1"/>
                        <a:t>Misi</a:t>
                      </a:r>
                      <a:r>
                        <a:rPr lang="en-US" sz="1000"/>
                        <a:t> 1 : 10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 | </a:t>
                      </a:r>
                      <a:r>
                        <a:rPr lang="en-US" sz="1000" err="1"/>
                        <a:t>Misi</a:t>
                      </a:r>
                      <a:r>
                        <a:rPr lang="en-US" sz="1000"/>
                        <a:t> 2 : 24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End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err="1"/>
                        <a:t>Misi</a:t>
                      </a:r>
                      <a:r>
                        <a:rPr lang="en-US" sz="1000"/>
                        <a:t> 1 : 23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 | </a:t>
                      </a:r>
                      <a:r>
                        <a:rPr lang="en-US" sz="1000" err="1"/>
                        <a:t>Misi</a:t>
                      </a:r>
                      <a:r>
                        <a:rPr lang="en-US" sz="1000"/>
                        <a:t> 2 :  9 </a:t>
                      </a:r>
                      <a:r>
                        <a:rPr lang="en-US" sz="1000" err="1"/>
                        <a:t>Maret</a:t>
                      </a:r>
                      <a:r>
                        <a:rPr lang="en-US" sz="1000"/>
                        <a:t>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Reward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146 XP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18491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 err="1"/>
                        <a:t>Instruksi</a:t>
                      </a:r>
                      <a:r>
                        <a:rPr lang="en-US" sz="1000" b="1"/>
                        <a:t> </a:t>
                      </a:r>
                      <a:r>
                        <a:rPr lang="en-US" sz="1000" b="1" err="1"/>
                        <a:t>Misi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/>
                        <a:t>Yuk </a:t>
                      </a:r>
                      <a:r>
                        <a:rPr lang="en-ID" sz="1000" err="1"/>
                        <a:t>lakukan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belanja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ke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mitra</a:t>
                      </a:r>
                      <a:r>
                        <a:rPr lang="en-ID" sz="1000"/>
                        <a:t> SRC </a:t>
                      </a:r>
                      <a:r>
                        <a:rPr lang="en-ID" sz="1000" err="1"/>
                        <a:t>menggunakan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aplikasi</a:t>
                      </a:r>
                      <a:r>
                        <a:rPr lang="en-ID" sz="1000"/>
                        <a:t> AYO Toko </a:t>
                      </a:r>
                      <a:r>
                        <a:rPr lang="en-ID" sz="1000" err="1"/>
                        <a:t>selama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periode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misi</a:t>
                      </a:r>
                      <a:r>
                        <a:rPr lang="en-ID" sz="1000"/>
                        <a:t>! </a:t>
                      </a:r>
                      <a:r>
                        <a:rPr lang="en-ID" sz="1000" err="1"/>
                        <a:t>Sahabat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berkesempatan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untuk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mendapatkan</a:t>
                      </a:r>
                      <a:r>
                        <a:rPr lang="en-ID" sz="1000"/>
                        <a:t> XP </a:t>
                      </a:r>
                      <a:r>
                        <a:rPr lang="en-ID" sz="1000" err="1"/>
                        <a:t>dengan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melihat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instruksi</a:t>
                      </a:r>
                      <a:r>
                        <a:rPr lang="en-ID" sz="1000"/>
                        <a:t> di </a:t>
                      </a:r>
                      <a:r>
                        <a:rPr lang="en-ID" sz="1000" err="1"/>
                        <a:t>bawah</a:t>
                      </a:r>
                      <a:r>
                        <a:rPr lang="en-ID" sz="1000"/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/>
                        <a:t>*</a:t>
                      </a:r>
                      <a:r>
                        <a:rPr lang="en-ID" sz="1000" err="1"/>
                        <a:t>Pastikan</a:t>
                      </a:r>
                      <a:r>
                        <a:rPr lang="en-ID" sz="1000"/>
                        <a:t> status </a:t>
                      </a:r>
                      <a:r>
                        <a:rPr lang="en-ID" sz="1000" err="1"/>
                        <a:t>pesanan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adalah</a:t>
                      </a:r>
                      <a:r>
                        <a:rPr lang="en-ID" sz="1000"/>
                        <a:t> DITERIMA/SELESAI.</a:t>
                      </a:r>
                    </a:p>
                    <a:p>
                      <a:pPr marL="0" indent="0">
                        <a:buNone/>
                      </a:pPr>
                      <a:endParaRPr lang="en-ID" sz="1000"/>
                    </a:p>
                    <a:p>
                      <a:pPr marL="0" indent="0">
                        <a:buNone/>
                      </a:pPr>
                      <a:endParaRPr lang="en-ID" sz="1000"/>
                    </a:p>
                    <a:p>
                      <a:pPr marL="0" indent="0">
                        <a:buNone/>
                      </a:pPr>
                      <a:endParaRPr lang="en-ID" sz="1000"/>
                    </a:p>
                    <a:p>
                      <a:pPr marL="0" indent="0">
                        <a:buNone/>
                      </a:pPr>
                      <a:r>
                        <a:rPr lang="en-ID" sz="1000" err="1"/>
                        <a:t>Apakah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Sahabat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sudah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siap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menjalani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tantangannya</a:t>
                      </a:r>
                      <a:r>
                        <a:rPr lang="en-ID" sz="1000"/>
                        <a:t>?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a. Ya, </a:t>
                      </a:r>
                      <a:r>
                        <a:rPr lang="en-ID" sz="1000" err="1"/>
                        <a:t>saya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siap</a:t>
                      </a:r>
                      <a:r>
                        <a:rPr lang="en-ID" sz="1000"/>
                        <a:t>!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747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/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0" i="0" err="1"/>
                        <a:t>Toko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melakukan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belanja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lewat</a:t>
                      </a:r>
                      <a:r>
                        <a:rPr lang="en-US" sz="1000" b="0" i="0"/>
                        <a:t> AYO</a:t>
                      </a:r>
                      <a:endParaRPr lang="en-ID" sz="1000" b="0" i="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  <p:pic>
        <p:nvPicPr>
          <p:cNvPr id="6" name="Picture 5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C4643413-9DCD-A969-310B-39A7E627F4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462229" y="1013130"/>
            <a:ext cx="2530545" cy="532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52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>
            <a:extLst>
              <a:ext uri="{FF2B5EF4-FFF2-40B4-BE49-F238E27FC236}">
                <a16:creationId xmlns:a16="http://schemas.microsoft.com/office/drawing/2014/main" id="{8DA0E19D-6477-74C0-629E-8EDFC4FFD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882" y="1200181"/>
            <a:ext cx="2283053" cy="4948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C4643413-9DCD-A969-310B-39A7E627F4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297720" y="981790"/>
            <a:ext cx="2530545" cy="532627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085846"/>
              </p:ext>
            </p:extLst>
          </p:nvPr>
        </p:nvGraphicFramePr>
        <p:xfrm>
          <a:off x="3078080" y="981790"/>
          <a:ext cx="8816200" cy="5249901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Digitalization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B2B (Level 2,3,4)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da-DK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Ayo Belanja Pake AYO!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7657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1" err="1"/>
                        <a:t>Deskripsi</a:t>
                      </a:r>
                      <a:r>
                        <a:rPr lang="en-ID" sz="1000" b="1"/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Hai </a:t>
                      </a:r>
                      <a:r>
                        <a:rPr lang="en-US" sz="1000" err="1"/>
                        <a:t>Sahabat</a:t>
                      </a:r>
                      <a:r>
                        <a:rPr lang="en-US" sz="1000"/>
                        <a:t> SRC!</a:t>
                      </a:r>
                    </a:p>
                    <a:p>
                      <a:endParaRPr lang="en-US" sz="1000"/>
                    </a:p>
                    <a:p>
                      <a:r>
                        <a:rPr lang="en-US" sz="1000"/>
                        <a:t>Yuk </a:t>
                      </a:r>
                      <a:r>
                        <a:rPr lang="en-US" sz="1000" err="1"/>
                        <a:t>gunakan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fitur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belanja</a:t>
                      </a:r>
                      <a:r>
                        <a:rPr lang="en-US" sz="1000"/>
                        <a:t> AYO </a:t>
                      </a:r>
                      <a:r>
                        <a:rPr lang="en-US" sz="1000" err="1"/>
                        <a:t>untuk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memenuhi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kebutuhan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tokomu</a:t>
                      </a:r>
                      <a:r>
                        <a:rPr lang="en-US" sz="1000"/>
                        <a:t> dan </a:t>
                      </a:r>
                      <a:r>
                        <a:rPr lang="en-US" sz="1000" err="1"/>
                        <a:t>berkesempatan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dapat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hingga</a:t>
                      </a:r>
                      <a:r>
                        <a:rPr lang="en-US" sz="1000"/>
                        <a:t> 30 </a:t>
                      </a:r>
                      <a:r>
                        <a:rPr lang="en-US" sz="1000" err="1"/>
                        <a:t>koin</a:t>
                      </a:r>
                      <a:r>
                        <a:rPr lang="en-US" sz="1000"/>
                        <a:t> dan 96 XP*</a:t>
                      </a:r>
                    </a:p>
                    <a:p>
                      <a:endParaRPr lang="en-ID" sz="1000"/>
                    </a:p>
                    <a:p>
                      <a:r>
                        <a:rPr lang="en-ID" sz="1000" err="1"/>
                        <a:t>Sahabat</a:t>
                      </a:r>
                      <a:r>
                        <a:rPr lang="en-ID" sz="1000"/>
                        <a:t> SRC </a:t>
                      </a:r>
                      <a:r>
                        <a:rPr lang="en-ID" sz="1000" err="1"/>
                        <a:t>berkesempatan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mendapatkan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tambahan</a:t>
                      </a:r>
                      <a:r>
                        <a:rPr lang="en-ID" sz="1000"/>
                        <a:t> 24 XP </a:t>
                      </a:r>
                      <a:r>
                        <a:rPr lang="en-ID" sz="1000" err="1"/>
                        <a:t>jika</a:t>
                      </a:r>
                      <a:r>
                        <a:rPr lang="en-ID" sz="1000"/>
                        <a:t> minimal 4 </a:t>
                      </a:r>
                      <a:r>
                        <a:rPr lang="en-ID" sz="1000" err="1"/>
                        <a:t>anggota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paguyuban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mengerjakan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misi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ini</a:t>
                      </a:r>
                      <a:r>
                        <a:rPr lang="en-ID" sz="1000"/>
                        <a:t>, </a:t>
                      </a:r>
                    </a:p>
                    <a:p>
                      <a:r>
                        <a:rPr lang="en-ID" sz="1000"/>
                        <a:t>*Akan </a:t>
                      </a:r>
                      <a:r>
                        <a:rPr lang="en-ID" sz="1000" err="1"/>
                        <a:t>dilakukan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verifikasi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terlebih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dahulu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Start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err="1"/>
                        <a:t>Misi</a:t>
                      </a:r>
                      <a:r>
                        <a:rPr lang="en-US" sz="1000"/>
                        <a:t> 1 : 10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 | </a:t>
                      </a:r>
                      <a:r>
                        <a:rPr lang="en-US" sz="1000" err="1"/>
                        <a:t>Misi</a:t>
                      </a:r>
                      <a:r>
                        <a:rPr lang="en-US" sz="1000"/>
                        <a:t> 2 : 24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End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err="1"/>
                        <a:t>Misi</a:t>
                      </a:r>
                      <a:r>
                        <a:rPr lang="en-US" sz="1000"/>
                        <a:t> 1 : 23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 | </a:t>
                      </a:r>
                      <a:r>
                        <a:rPr lang="en-US" sz="1000" err="1"/>
                        <a:t>Misi</a:t>
                      </a:r>
                      <a:r>
                        <a:rPr lang="en-US" sz="1000"/>
                        <a:t> 2 :  9 </a:t>
                      </a:r>
                      <a:r>
                        <a:rPr lang="en-US" sz="1000" err="1"/>
                        <a:t>Maret</a:t>
                      </a:r>
                      <a:r>
                        <a:rPr lang="en-US" sz="1000"/>
                        <a:t>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Reward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30 Koin &amp; 96 XP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18822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 err="1"/>
                        <a:t>Instruksi</a:t>
                      </a:r>
                      <a:r>
                        <a:rPr lang="en-US" sz="1000" b="1"/>
                        <a:t> </a:t>
                      </a:r>
                      <a:r>
                        <a:rPr lang="en-US" sz="1000" b="1" err="1"/>
                        <a:t>Misi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ID" sz="1000"/>
                        <a:t>Yuk lakukan belanja ke mitra SRC  menggunakan aplikasi AYO Toko selama periode misi! Sahabat berkesempatan untuk mendapatkan 30 koin dan 120 XP dengan syarat sebagai berikut:</a:t>
                      </a:r>
                    </a:p>
                    <a:p>
                      <a:pPr marL="0" indent="0">
                        <a:buNone/>
                      </a:pPr>
                      <a:endParaRPr lang="en-ID" sz="1000"/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1. Jika Sahabat melakukan transaksi belanja menggunakan aplikasi AYO minimal 2x selama periode misi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2. Pastikan status pesanan adalah DITERIMA/SELESAI.</a:t>
                      </a:r>
                    </a:p>
                    <a:p>
                      <a:pPr marL="0" indent="0">
                        <a:buNone/>
                      </a:pPr>
                      <a:endParaRPr lang="en-ID" sz="1000"/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Apakah Sahabat sudah siap menjalani tantangannya?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a. Ya, saya siap!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747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/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0" i="0" err="1"/>
                        <a:t>Toko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melakukan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belanja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lewat</a:t>
                      </a:r>
                      <a:r>
                        <a:rPr lang="en-US" sz="1000" b="0" i="0"/>
                        <a:t> AYO</a:t>
                      </a:r>
                      <a:endParaRPr lang="en-ID" sz="1000" b="0" i="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</p:spTree>
    <p:extLst>
      <p:ext uri="{BB962C8B-B14F-4D97-AF65-F5344CB8AC3E}">
        <p14:creationId xmlns:p14="http://schemas.microsoft.com/office/powerpoint/2010/main" val="3759561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803456"/>
              </p:ext>
            </p:extLst>
          </p:nvPr>
        </p:nvGraphicFramePr>
        <p:xfrm>
          <a:off x="3078080" y="981790"/>
          <a:ext cx="8816200" cy="5135508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Digitalization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Thematic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da-DK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 #JadiLebihBaik dengan Mengenal Pelanggan-mu!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9726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1" err="1"/>
                        <a:t>Deskripsi</a:t>
                      </a:r>
                      <a:r>
                        <a:rPr lang="en-ID" sz="1000" b="1"/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Halo </a:t>
                      </a:r>
                      <a:r>
                        <a:rPr lang="en-US" sz="1000" err="1"/>
                        <a:t>Sahabat</a:t>
                      </a:r>
                      <a:r>
                        <a:rPr lang="en-US" sz="1000"/>
                        <a:t> SRC, yuk, </a:t>
                      </a:r>
                      <a:r>
                        <a:rPr lang="en-US" sz="1000" err="1"/>
                        <a:t>ikuti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misi</a:t>
                      </a:r>
                      <a:r>
                        <a:rPr lang="en-US" sz="1000"/>
                        <a:t> #JadiLebihBaik </a:t>
                      </a:r>
                      <a:r>
                        <a:rPr lang="en-US" sz="1000" err="1"/>
                        <a:t>dengan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mengenal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lebih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banyak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tentang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kebutuhan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pelangganmu</a:t>
                      </a:r>
                      <a:r>
                        <a:rPr lang="en-US" sz="1000"/>
                        <a:t>! </a:t>
                      </a:r>
                      <a:r>
                        <a:rPr lang="en-US" sz="1000" err="1"/>
                        <a:t>Dengan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memahami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kebutuhan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mereka</a:t>
                      </a:r>
                      <a:r>
                        <a:rPr lang="en-US" sz="1000"/>
                        <a:t>, </a:t>
                      </a:r>
                      <a:r>
                        <a:rPr lang="en-US" sz="1000" err="1"/>
                        <a:t>kamu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bisa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menciptakan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pengalaman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belanja</a:t>
                      </a:r>
                      <a:r>
                        <a:rPr lang="en-US" sz="1000"/>
                        <a:t> yang </a:t>
                      </a:r>
                      <a:r>
                        <a:rPr lang="en-US" sz="1000" err="1"/>
                        <a:t>lebih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nyaman</a:t>
                      </a:r>
                      <a:r>
                        <a:rPr lang="en-US" sz="1000"/>
                        <a:t>. Simak 3 </a:t>
                      </a:r>
                      <a:r>
                        <a:rPr lang="en-US" sz="1000" err="1"/>
                        <a:t>poin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penting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ini</a:t>
                      </a:r>
                      <a:r>
                        <a:rPr lang="en-US" sz="1000"/>
                        <a:t> agar </a:t>
                      </a:r>
                      <a:r>
                        <a:rPr lang="en-US" sz="1000" err="1"/>
                        <a:t>pelanggan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semakin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nyaman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berbelanja</a:t>
                      </a:r>
                      <a:r>
                        <a:rPr lang="en-US" sz="1000"/>
                        <a:t> di </a:t>
                      </a:r>
                      <a:r>
                        <a:rPr lang="en-US" sz="1000" err="1"/>
                        <a:t>tokomu</a:t>
                      </a:r>
                      <a:r>
                        <a:rPr lang="en-US" sz="1000"/>
                        <a:t>! 😊</a:t>
                      </a:r>
                    </a:p>
                    <a:p>
                      <a:endParaRPr lang="en-US" sz="1000"/>
                    </a:p>
                    <a:p>
                      <a:r>
                        <a:rPr lang="en-US" sz="1000" err="1"/>
                        <a:t>Sahabat</a:t>
                      </a:r>
                      <a:r>
                        <a:rPr lang="en-US" sz="1000"/>
                        <a:t> SRC </a:t>
                      </a:r>
                      <a:r>
                        <a:rPr lang="en-US" sz="1000" err="1"/>
                        <a:t>berkesempatan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mendapatkan</a:t>
                      </a:r>
                      <a:r>
                        <a:rPr lang="en-US" sz="1000"/>
                        <a:t> 80XP </a:t>
                      </a:r>
                      <a:r>
                        <a:rPr lang="en-US" sz="1000" err="1"/>
                        <a:t>apabila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menjawab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semua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pertanyaan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dengan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benar</a:t>
                      </a:r>
                      <a:r>
                        <a:rPr lang="en-US" sz="1000"/>
                        <a:t> </a:t>
                      </a:r>
                    </a:p>
                    <a:p>
                      <a:r>
                        <a:rPr lang="en-US" sz="1000"/>
                        <a:t>Dan </a:t>
                      </a:r>
                      <a:r>
                        <a:rPr lang="en-US" sz="1000" err="1"/>
                        <a:t>apabila</a:t>
                      </a:r>
                      <a:r>
                        <a:rPr lang="en-US" sz="1000"/>
                        <a:t> 4 </a:t>
                      </a:r>
                      <a:r>
                        <a:rPr lang="en-US" sz="1000" err="1"/>
                        <a:t>anggota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paguyuban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berhasil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menjawab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pertanyaan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ini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dengan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benar</a:t>
                      </a:r>
                      <a:r>
                        <a:rPr lang="en-US" sz="1000"/>
                        <a:t>, </a:t>
                      </a:r>
                      <a:r>
                        <a:rPr lang="en-US" sz="1000" err="1"/>
                        <a:t>maka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akan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ada</a:t>
                      </a:r>
                      <a:r>
                        <a:rPr lang="en-US" sz="1000"/>
                        <a:t> </a:t>
                      </a:r>
                      <a:r>
                        <a:rPr lang="en-US" sz="1000" err="1"/>
                        <a:t>tambahan</a:t>
                      </a:r>
                      <a:r>
                        <a:rPr lang="en-US" sz="1000"/>
                        <a:t> 25XP </a:t>
                      </a:r>
                      <a:r>
                        <a:rPr lang="en-US" sz="1000" err="1"/>
                        <a:t>ya</a:t>
                      </a:r>
                      <a:r>
                        <a:rPr lang="en-US" sz="1000"/>
                        <a:t>! 😍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Start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17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End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2 </a:t>
                      </a:r>
                      <a:r>
                        <a:rPr lang="en-US" sz="1000" err="1"/>
                        <a:t>Maret</a:t>
                      </a:r>
                      <a:r>
                        <a:rPr lang="en-US" sz="1000"/>
                        <a:t>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589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Reward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80 XP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18822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 err="1"/>
                        <a:t>Instruksi</a:t>
                      </a:r>
                      <a:r>
                        <a:rPr lang="en-US" sz="1000" b="1"/>
                        <a:t> </a:t>
                      </a:r>
                      <a:r>
                        <a:rPr lang="en-US" sz="1000" b="1" err="1"/>
                        <a:t>Misi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228600" indent="-228600">
                        <a:buAutoNum type="arabicPeriod"/>
                      </a:pPr>
                      <a:r>
                        <a:rPr lang="en-ID" sz="1000" err="1"/>
                        <a:t>Pastikan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kamu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menyediakan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barang</a:t>
                      </a:r>
                      <a:r>
                        <a:rPr lang="en-ID" sz="1000"/>
                        <a:t> yang </a:t>
                      </a:r>
                      <a:r>
                        <a:rPr lang="en-ID" sz="1000" err="1"/>
                        <a:t>menjadi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kebutuhan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pelanggan</a:t>
                      </a:r>
                      <a:r>
                        <a:rPr lang="en-ID" sz="1000"/>
                        <a:t>-mu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ID" sz="1000" err="1"/>
                        <a:t>Perhatikan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penataan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barang</a:t>
                      </a:r>
                      <a:r>
                        <a:rPr lang="en-ID" sz="1000"/>
                        <a:t> agar Toko-mu </a:t>
                      </a:r>
                      <a:r>
                        <a:rPr lang="en-ID" sz="1000" err="1"/>
                        <a:t>rapi</a:t>
                      </a:r>
                      <a:r>
                        <a:rPr lang="en-ID" sz="1000"/>
                        <a:t> dan </a:t>
                      </a:r>
                      <a:r>
                        <a:rPr lang="en-ID" sz="1000" err="1"/>
                        <a:t>enak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dipandang</a:t>
                      </a:r>
                      <a:r>
                        <a:rPr lang="en-ID" sz="1000"/>
                        <a:t>.  Tips </a:t>
                      </a:r>
                      <a:r>
                        <a:rPr lang="en-ID" sz="1000" err="1"/>
                        <a:t>penataan</a:t>
                      </a:r>
                      <a:r>
                        <a:rPr lang="en-ID" sz="1000"/>
                        <a:t> yang </a:t>
                      </a:r>
                      <a:r>
                        <a:rPr lang="en-ID" sz="1000" err="1"/>
                        <a:t>baik</a:t>
                      </a:r>
                      <a:r>
                        <a:rPr lang="en-ID" sz="1000"/>
                        <a:t>.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ID" sz="1000" err="1"/>
                        <a:t>Komunikasikan</a:t>
                      </a:r>
                      <a:r>
                        <a:rPr lang="en-ID" sz="1000"/>
                        <a:t> pada </a:t>
                      </a:r>
                      <a:r>
                        <a:rPr lang="en-ID" sz="1000" err="1"/>
                        <a:t>pelanggan</a:t>
                      </a:r>
                      <a:r>
                        <a:rPr lang="en-ID" sz="1000"/>
                        <a:t>-mu </a:t>
                      </a:r>
                      <a:r>
                        <a:rPr lang="en-ID" sz="1000" err="1"/>
                        <a:t>mengenai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kedatangan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barang-barang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terbaru</a:t>
                      </a:r>
                      <a:r>
                        <a:rPr lang="en-ID" sz="1000"/>
                        <a:t> dan </a:t>
                      </a:r>
                      <a:r>
                        <a:rPr lang="en-ID" sz="1000" err="1"/>
                        <a:t>komunikasikan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harga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dengan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menaruh</a:t>
                      </a:r>
                      <a:r>
                        <a:rPr lang="en-ID" sz="1000"/>
                        <a:t> label </a:t>
                      </a:r>
                      <a:r>
                        <a:rPr lang="en-ID" sz="1000" err="1"/>
                        <a:t>harga</a:t>
                      </a:r>
                      <a:r>
                        <a:rPr lang="en-ID" sz="1000"/>
                        <a:t> pada </a:t>
                      </a:r>
                      <a:r>
                        <a:rPr lang="en-ID" sz="1000" err="1"/>
                        <a:t>produk</a:t>
                      </a:r>
                      <a:r>
                        <a:rPr lang="en-ID" sz="1000"/>
                        <a:t> yang </a:t>
                      </a:r>
                      <a:r>
                        <a:rPr lang="en-ID" sz="1000" err="1"/>
                        <a:t>dijual</a:t>
                      </a:r>
                      <a:r>
                        <a:rPr lang="en-ID" sz="1000"/>
                        <a:t> yah, </a:t>
                      </a:r>
                      <a:r>
                        <a:rPr lang="en-ID" sz="1000" err="1"/>
                        <a:t>Sahabat</a:t>
                      </a:r>
                      <a:r>
                        <a:rPr lang="en-ID" sz="1000"/>
                        <a:t> SRC! 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 err="1"/>
                        <a:t>Sekarang</a:t>
                      </a:r>
                      <a:r>
                        <a:rPr lang="en-ID" sz="1000"/>
                        <a:t>, </a:t>
                      </a:r>
                      <a:r>
                        <a:rPr lang="en-ID" sz="1000" err="1"/>
                        <a:t>Sahabat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sudah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tahu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cara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mengenal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pelanggan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lebih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baik</a:t>
                      </a:r>
                      <a:r>
                        <a:rPr lang="en-ID" sz="1000"/>
                        <a:t> dan </a:t>
                      </a:r>
                      <a:r>
                        <a:rPr lang="en-ID" sz="1000" err="1"/>
                        <a:t>memberikan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pengalaman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belanja</a:t>
                      </a:r>
                      <a:r>
                        <a:rPr lang="en-ID" sz="1000"/>
                        <a:t> yang </a:t>
                      </a:r>
                      <a:r>
                        <a:rPr lang="en-ID" sz="1000" err="1"/>
                        <a:t>nyaman</a:t>
                      </a:r>
                      <a:r>
                        <a:rPr lang="en-ID" sz="1000"/>
                        <a:t>. </a:t>
                      </a:r>
                    </a:p>
                    <a:p>
                      <a:pPr marL="0" indent="0">
                        <a:buNone/>
                      </a:pPr>
                      <a:endParaRPr lang="en-ID" sz="1000"/>
                    </a:p>
                    <a:p>
                      <a:pPr marL="0" indent="0">
                        <a:buNone/>
                      </a:pPr>
                      <a:r>
                        <a:rPr lang="en-ID" sz="1000" err="1"/>
                        <a:t>Sekarang</a:t>
                      </a:r>
                      <a:r>
                        <a:rPr lang="en-ID" sz="1000"/>
                        <a:t>, yuk </a:t>
                      </a:r>
                      <a:r>
                        <a:rPr lang="en-ID" sz="1000" err="1"/>
                        <a:t>jawab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soal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berikut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untuk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lebih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paham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cara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meningkatkan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pelayanan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kepada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pelanggan</a:t>
                      </a:r>
                      <a:r>
                        <a:rPr lang="en-ID" sz="1000"/>
                        <a:t>!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ID" sz="1000" err="1"/>
                        <a:t>Apa</a:t>
                      </a:r>
                      <a:r>
                        <a:rPr lang="en-ID" sz="1000"/>
                        <a:t> yang </a:t>
                      </a:r>
                      <a:r>
                        <a:rPr lang="en-ID" sz="1000" err="1"/>
                        <a:t>sebaiknya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Sahabat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lakukan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untuk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memastikan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stok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barang</a:t>
                      </a:r>
                      <a:r>
                        <a:rPr lang="en-ID" sz="1000"/>
                        <a:t> di Toko-mu </a:t>
                      </a:r>
                      <a:r>
                        <a:rPr lang="en-ID" sz="1000" err="1"/>
                        <a:t>selalu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lengkap</a:t>
                      </a:r>
                      <a:r>
                        <a:rPr lang="en-ID" sz="1000"/>
                        <a:t> dan </a:t>
                      </a:r>
                      <a:r>
                        <a:rPr lang="en-ID" sz="1000" err="1"/>
                        <a:t>sesuai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kebutuhan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pelanggan</a:t>
                      </a:r>
                      <a:r>
                        <a:rPr lang="en-ID" sz="1000"/>
                        <a:t>?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ID" sz="1000" err="1"/>
                        <a:t>Bagaimana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cara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menata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barang</a:t>
                      </a:r>
                      <a:r>
                        <a:rPr lang="en-ID" sz="1000"/>
                        <a:t> di toko agar </a:t>
                      </a:r>
                      <a:r>
                        <a:rPr lang="en-ID" sz="1000" err="1"/>
                        <a:t>pelanggan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nyaman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saat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berbelanja</a:t>
                      </a:r>
                      <a:r>
                        <a:rPr lang="en-ID" sz="1000"/>
                        <a:t>?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ID" sz="1000" err="1"/>
                        <a:t>Apa</a:t>
                      </a:r>
                      <a:r>
                        <a:rPr lang="en-ID" sz="1000"/>
                        <a:t> yang </a:t>
                      </a:r>
                      <a:r>
                        <a:rPr lang="en-ID" sz="1000" err="1"/>
                        <a:t>sebaiknya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Sabahat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komunikasikan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kepada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pelanggan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untuk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meningkatkan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minat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belanja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mereka</a:t>
                      </a:r>
                      <a:r>
                        <a:rPr lang="en-ID" sz="1000"/>
                        <a:t>?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7475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/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sv-SE" sz="1000" b="0" i="0"/>
                        <a:t>Menjawab 3 pertanyaan dengan benar </a:t>
                      </a:r>
                      <a:endParaRPr lang="en-ID" sz="1000" b="0" i="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DAF44A53-E3BE-CA41-638E-CC29AF7FE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853" y="1217427"/>
            <a:ext cx="2309081" cy="5005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C4643413-9DCD-A969-310B-39A7E627F4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297720" y="981790"/>
            <a:ext cx="2530545" cy="532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700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/>
        </p:nvGraphicFramePr>
        <p:xfrm>
          <a:off x="3078080" y="972265"/>
          <a:ext cx="8816200" cy="5087587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4198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Partnership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4198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Garudafood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Shelf</a:t>
                      </a:r>
                      <a:endParaRPr lang="it-IT" sz="1100" b="1" i="0" u="none" strike="noStrike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4198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Pajangan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Garudafood</a:t>
                      </a:r>
                      <a:endParaRPr lang="en-ID" sz="1100" b="1" i="0" u="none" strike="noStrike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0" marT="0" marB="0"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1136414">
                <a:tc>
                  <a:txBody>
                    <a:bodyPr/>
                    <a:lstStyle/>
                    <a:p>
                      <a:r>
                        <a:rPr lang="en-ID" sz="10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Deskripsi</a:t>
                      </a:r>
                      <a:r>
                        <a:rPr lang="en-ID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Hai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Sahabat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SRC!</a:t>
                      </a:r>
                    </a:p>
                    <a:p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Sahabat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berpeluang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mendapatkan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525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koin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dan 600 XP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dengan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menyediakan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dan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memajang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Garudafood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sesuai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dengan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panduan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program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selama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periode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Februari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- Juni 2025. </a:t>
                      </a:r>
                    </a:p>
                    <a:p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Tunggu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apa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lagi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....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kerjakan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Misinya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Sekarang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!! 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4307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Start Period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01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Februari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2025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4307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End Period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28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Februari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 2025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4307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Reward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525 Koin dan 600 XP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1284173">
                <a:tc>
                  <a:txBody>
                    <a:bodyPr/>
                    <a:lstStyle/>
                    <a:p>
                      <a:r>
                        <a:rPr lang="en-US" sz="10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Instruksi</a:t>
                      </a:r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10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  <a:tabLst/>
                      </a:pP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>
                        <a:buFont typeface="+mj-lt"/>
                        <a:buNone/>
                        <a:tabLst/>
                      </a:pP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Temukan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3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Garuda food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Andalan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Sahabat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>
                        <a:buFont typeface="+mj-lt"/>
                        <a:buNone/>
                        <a:tabLst/>
                      </a:pP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Terdapat</a:t>
                      </a:r>
                      <a:r>
                        <a:rPr lang="en-ID" sz="1000" b="1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7 </a:t>
                      </a: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tambahan</a:t>
                      </a:r>
                      <a:r>
                        <a:rPr lang="en-ID" sz="1000" b="1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pertanyaan</a:t>
                      </a:r>
                      <a:r>
                        <a:rPr lang="en-ID" sz="1000" b="1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panduan</a:t>
                      </a:r>
                      <a:r>
                        <a:rPr lang="en-ID" sz="1000" b="1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dalam</a:t>
                      </a:r>
                      <a:r>
                        <a:rPr lang="en-ID" sz="1000" b="1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mengerjakan</a:t>
                      </a:r>
                      <a:r>
                        <a:rPr lang="en-ID" sz="1000" b="1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endParaRPr lang="en-ID" sz="1000" b="1" i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>
                        <a:buFont typeface="+mj-lt"/>
                        <a:buNone/>
                        <a:tabLst/>
                      </a:pPr>
                      <a:endParaRPr lang="en-ID" sz="1000" b="1" i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>
                        <a:buFont typeface="+mj-lt"/>
                        <a:buNone/>
                        <a:tabLst/>
                      </a:pPr>
                      <a:r>
                        <a:rPr lang="en-ID" sz="1000" b="0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 </a:t>
                      </a:r>
                      <a:r>
                        <a:rPr lang="en-ID" sz="1000" b="0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Fotolah</a:t>
                      </a:r>
                      <a:r>
                        <a:rPr lang="en-ID" sz="1000" b="0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0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pajangan</a:t>
                      </a:r>
                      <a:r>
                        <a:rPr lang="en-ID" sz="1000" b="0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0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anda</a:t>
                      </a:r>
                      <a:r>
                        <a:rPr lang="en-ID" sz="1000" b="0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dan </a:t>
                      </a:r>
                      <a:r>
                        <a:rPr lang="en-ID" sz="1000" b="0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pastikan</a:t>
                      </a:r>
                      <a:r>
                        <a:rPr lang="en-ID" sz="1000" b="0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0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pajangan</a:t>
                      </a:r>
                      <a:r>
                        <a:rPr lang="en-ID" sz="1000" b="0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0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sesuai</a:t>
                      </a:r>
                      <a:r>
                        <a:rPr lang="en-ID" sz="1000" b="0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0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dengan</a:t>
                      </a:r>
                      <a:r>
                        <a:rPr lang="en-ID" sz="1000" b="0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0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mekanisme</a:t>
                      </a:r>
                      <a:r>
                        <a:rPr lang="en-ID" sz="1000" b="0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9344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Pemajangan produk pada Rak / Gondola baris ke-2 dan memiliki minimal masing" facing 2 produk dengan planogram yang telah ditetapkan. SRC diperkenankan memilih 3 dari 4 produk sebagai berikut : </a:t>
                      </a:r>
                    </a:p>
                    <a:p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 Garuda Pilus Mi Goreng 17g:  2 bungkus ke kanan</a:t>
                      </a:r>
                    </a:p>
                    <a:p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 Garuda Crunchy Ocorn 17g:  2 bungkus ke kanan</a:t>
                      </a:r>
                    </a:p>
                    <a:p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 Gery Wafer Roll 16.5g: 2 softbox ke kanan</a:t>
                      </a:r>
                    </a:p>
                    <a:p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- Chocolatos Roll Chocolate Coated 22.8g: 2 softbox ke atas/kanan</a:t>
                      </a:r>
                    </a:p>
                    <a:p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Apabila terdapat lebih dari 4 facing maka penambahan dilakukan di sebelah produk terkait.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3143266-43FB-B18F-7CF8-BD9EB2312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376" y="1213729"/>
            <a:ext cx="2229937" cy="4831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62E930A5-1148-0EC1-AB63-8B9BB78EE0F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341185" y="905159"/>
            <a:ext cx="2530545" cy="532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4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/>
        </p:nvGraphicFramePr>
        <p:xfrm>
          <a:off x="3078080" y="972265"/>
          <a:ext cx="8816200" cy="5440680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4198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Partnership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4198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Coca  Cola  Chiller</a:t>
                      </a:r>
                      <a:endParaRPr lang="it-IT" sz="1100" b="1" i="0" u="none" strike="noStrike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4198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Pajangan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Chiller Coca-Cola x SRC - </a:t>
                      </a:r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Februari</a:t>
                      </a:r>
                      <a:endParaRPr lang="en-ID" sz="1100" b="1" i="0" u="none" strike="noStrike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0" marT="0" marB="0"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1136414">
                <a:tc>
                  <a:txBody>
                    <a:bodyPr/>
                    <a:lstStyle/>
                    <a:p>
                      <a:r>
                        <a:rPr lang="en-ID" sz="10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Deskripsi</a:t>
                      </a:r>
                      <a:r>
                        <a:rPr lang="en-ID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Hai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Sahabat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SRC!</a:t>
                      </a:r>
                    </a:p>
                    <a:p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Selamat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!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Sahabat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berhak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mengikuti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program Kerjasama dan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kesempatan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untuk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mendapatkan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200 Koin* dan 150XP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dengan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melakukan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Pajangan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Chiller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Coca-Cola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sesuai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dengan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mekanisme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  <a:p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Sahabat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perlu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memajang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3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dari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Coca-Cola di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Lemari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Pendingin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(Chiller) di Toko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Sahabat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berupa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:</a:t>
                      </a:r>
                    </a:p>
                    <a:p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 Coca-Cola (Bisa Varian Original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atau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Zero) 390ml;</a:t>
                      </a:r>
                    </a:p>
                    <a:p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 Sprite (Bisa Varian Original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atau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Zero) 390ml;</a:t>
                      </a:r>
                    </a:p>
                    <a:p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 Fanta (Bisa Varian Strawberry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atau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Orange) 390ml;</a:t>
                      </a:r>
                    </a:p>
                    <a:p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Pastikan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membaca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mekanisme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pajangan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agar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Sahabat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sukses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melakukan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pajangannya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!</a:t>
                      </a:r>
                    </a:p>
                    <a:p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*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Coca-cola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diberikan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2x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dalam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1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bulan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jangan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lupa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untuk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selalu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mengerjakan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sahabat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  <a:p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*Akan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dilakukan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verifikasi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terlebih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dahulu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4307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Start Period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1 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 01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Februari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2025 |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 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 15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Februari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 2025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4307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End Period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1 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14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Februari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2025 |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 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 28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Februari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 2025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4307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Reward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200 Koin dan 150 XP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1284173">
                <a:tc>
                  <a:txBody>
                    <a:bodyPr/>
                    <a:lstStyle/>
                    <a:p>
                      <a:r>
                        <a:rPr lang="en-US" sz="10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Instruksi</a:t>
                      </a:r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10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  <a:tabLst/>
                      </a:pP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  <a:tabLst/>
                      </a:pP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Siapkah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Sahabat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berkesempatan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mendapatkan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keuntungan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200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koin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*  dan 150xp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dengan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memajang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Coca-Cola di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kulkas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kaca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Sahabat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? Yuk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ikuti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langkah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berikut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!</a:t>
                      </a:r>
                    </a:p>
                    <a:p>
                      <a:pPr marL="0" indent="0">
                        <a:buFont typeface="+mj-lt"/>
                        <a:buNone/>
                        <a:tabLst/>
                      </a:pP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  *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Syarat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&amp;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ketentuan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berlaku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228600" indent="-228600">
                        <a:buFont typeface="+mj-lt"/>
                        <a:buAutoNum type="arabicPeriod" startAt="2"/>
                        <a:tabLst/>
                      </a:pP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Pertama-tama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,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pastikan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Kulkas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Kaca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pribadi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Sahabat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merupakan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kulkas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pribadi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dan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tidak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branding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merek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lain (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bukan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Kulkas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Sosro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atau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kulkas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Coca-Cola)</a:t>
                      </a:r>
                    </a:p>
                    <a:p>
                      <a:pPr marL="228600" indent="-228600">
                        <a:buFont typeface="+mj-lt"/>
                        <a:buAutoNum type="arabicPeriod" startAt="2"/>
                        <a:tabLst/>
                      </a:pP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>
                        <a:buFont typeface="+mj-lt"/>
                        <a:buNone/>
                        <a:tabLst/>
                      </a:pP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Terdapat</a:t>
                      </a:r>
                      <a:r>
                        <a:rPr lang="en-ID" sz="1000" b="1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3 </a:t>
                      </a: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tambahan</a:t>
                      </a:r>
                      <a:r>
                        <a:rPr lang="en-ID" sz="1000" b="1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pertanyaan</a:t>
                      </a:r>
                      <a:r>
                        <a:rPr lang="en-ID" sz="1000" b="1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panduan</a:t>
                      </a:r>
                      <a:r>
                        <a:rPr lang="en-ID" sz="1000" b="1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dalam</a:t>
                      </a:r>
                      <a:r>
                        <a:rPr lang="en-ID" sz="1000" b="1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mengerjakan</a:t>
                      </a:r>
                      <a:r>
                        <a:rPr lang="en-ID" sz="1000" b="1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endParaRPr lang="en-ID" sz="1000" b="1" i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9344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Produk Pajangan Coca-Cola: Coca-Cola 390ml, Sprite 390ml, dan Fanta 390ml (bisa Variant ZERO)</a:t>
                      </a:r>
                    </a:p>
                    <a:p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 Produk Coca-Cola terpajang di Area Chiller (Kulkas Pendingin) di Baris 1 atau Baris 2</a:t>
                      </a:r>
                    </a:p>
                    <a:p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 Di baris pajangan, tidak boleh ada Produk lain selain Produk Coca-Cola </a:t>
                      </a:r>
                    </a:p>
                    <a:p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 Di baris pajangan, masing-masing Produk Pajangan minimal harus ada 2 facing (total 6 facing minimal) wajib</a:t>
                      </a:r>
                    </a:p>
                    <a:p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4. Chiller yang digunakan harus merupakan chiller pribadi / tidak terlihat brandingan company lain di tampak depan chiller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7465AFD-C60E-FAF7-BF36-1D891CE9D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87" y="1297747"/>
            <a:ext cx="2252955" cy="4881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85667D1C-7F02-7528-7AD8-7D902D06F92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297720" y="981790"/>
            <a:ext cx="2530545" cy="532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945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AC103BBA-8DF6-5890-2E4E-F3992FCA8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862" y="1196984"/>
            <a:ext cx="2278771" cy="4939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C9EB0D1B-D554-9596-7FD6-E95A017E13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241976" y="1003562"/>
            <a:ext cx="2530545" cy="532627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/>
        </p:nvGraphicFramePr>
        <p:xfrm>
          <a:off x="3078080" y="981790"/>
          <a:ext cx="8816200" cy="5524810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CC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 Unwrapped – MKC12 (Level 1-2)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da-DK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Ayo Pajang Kretek Jagoanmu!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11364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1" err="1"/>
                        <a:t>Deskripsi</a:t>
                      </a:r>
                      <a:r>
                        <a:rPr lang="en-ID" sz="1000" b="1"/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/>
                        <a:t>Hai Sahabat SRC!</a:t>
                      </a:r>
                    </a:p>
                    <a:p>
                      <a:r>
                        <a:rPr lang="en-ID" sz="1000"/>
                        <a:t>Kini hadir Magnum Kretek Coklat tanpa selongsong yang bikin produk di tokomu makin lengkap. Selesaikan misinya untuk berkesempatan mendapatkan hingga 30 koin dan 120XP*!</a:t>
                      </a:r>
                    </a:p>
                    <a:p>
                      <a:r>
                        <a:rPr lang="en-ID" sz="1000"/>
                        <a:t>Sahabat SRC berkesempatan mendapatkan tambahan 30 XP jika minimal 4 anggota paguyuban mengerjakan misi ini, </a:t>
                      </a:r>
                    </a:p>
                    <a:p>
                      <a:r>
                        <a:rPr lang="en-ID" sz="1000"/>
                        <a:t>*Akan dilakukan verifikasi terlebih dahulu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Start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err="1"/>
                        <a:t>Misi</a:t>
                      </a:r>
                      <a:r>
                        <a:rPr lang="en-US" sz="1000"/>
                        <a:t> 1 : 3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 | </a:t>
                      </a:r>
                      <a:r>
                        <a:rPr lang="en-US" sz="1000" err="1"/>
                        <a:t>Misi</a:t>
                      </a:r>
                      <a:r>
                        <a:rPr lang="en-US" sz="1000"/>
                        <a:t> 2 : 17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End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err="1"/>
                        <a:t>Misi</a:t>
                      </a:r>
                      <a:r>
                        <a:rPr lang="en-US" sz="1000"/>
                        <a:t> 1 : 16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 | </a:t>
                      </a:r>
                      <a:r>
                        <a:rPr lang="en-US" sz="1000" err="1"/>
                        <a:t>Misi</a:t>
                      </a:r>
                      <a:r>
                        <a:rPr lang="en-US" sz="1000"/>
                        <a:t> 2 : 2 </a:t>
                      </a:r>
                      <a:r>
                        <a:rPr lang="en-US" sz="1000" err="1"/>
                        <a:t>Maret</a:t>
                      </a:r>
                      <a:r>
                        <a:rPr lang="en-US" sz="1000"/>
                        <a:t>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Reward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30 koin &amp; 120 XP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2376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 err="1"/>
                        <a:t>Instruksi</a:t>
                      </a:r>
                      <a:r>
                        <a:rPr lang="en-US" sz="1000" b="1"/>
                        <a:t> </a:t>
                      </a:r>
                      <a:r>
                        <a:rPr lang="en-US" sz="1000" b="1" err="1"/>
                        <a:t>Misi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228600" indent="-228600">
                        <a:buAutoNum type="arabicPeriod"/>
                      </a:pPr>
                      <a:r>
                        <a:rPr lang="en-ID" sz="1000"/>
                        <a:t>Apakah Sahabat sudah menjual produk Magnum Kretek Coklat di toko?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a. Sudah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b. Belum (Lanjut ke pertanyaan #4)</a:t>
                      </a:r>
                    </a:p>
                    <a:p>
                      <a:pPr marL="0" indent="0">
                        <a:buNone/>
                      </a:pPr>
                      <a:endParaRPr lang="en-ID" sz="1000"/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2. Berapa stok Magnum Kretek Coklat di toko Sahabat?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a. 1–3 bungkus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b. Lebih dari 3 bungkus</a:t>
                      </a:r>
                    </a:p>
                    <a:p>
                      <a:pPr marL="0" indent="0">
                        <a:buNone/>
                      </a:pPr>
                      <a:endParaRPr lang="en-ID" sz="1000"/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3. Yuk fotokan pajangan stok Magnum Kretek Coklat dan memberikan label harga di Toko Sahabat. Pastikan sesuai dengan panduan di bawah ini. Catatan: Pajangan harus kemasan utuh (tidak kemasan kosong/terbuka)</a:t>
                      </a:r>
                    </a:p>
                    <a:p>
                      <a:pPr marL="0" indent="0">
                        <a:buNone/>
                      </a:pPr>
                      <a:endParaRPr lang="en-ID" sz="1000"/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4. Magnum Kretek Coklat sudah tersedia dengan harga jual rekomendasi Rp 14,000. Yuk  segera dapatkan di mitra SRC langganan ya.. Yuk  segera dapatkan di mitra SRC langganan ya.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Ya. Saya Mengerti.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934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/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0" i="0" err="1"/>
                        <a:t>Toko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melakukan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pemajangan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produk</a:t>
                      </a:r>
                      <a:r>
                        <a:rPr lang="en-US" sz="1000" b="0" i="0"/>
                        <a:t> minimal 3 pack </a:t>
                      </a:r>
                      <a:r>
                        <a:rPr lang="en-US" sz="1000" b="0" i="0" err="1"/>
                        <a:t>atau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lebih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dapat</a:t>
                      </a:r>
                      <a:r>
                        <a:rPr lang="en-US" sz="1000" b="0" i="0"/>
                        <a:t> 30koin</a:t>
                      </a:r>
                      <a:br>
                        <a:rPr lang="en-US" sz="1000" b="0" i="0"/>
                      </a:br>
                      <a:r>
                        <a:rPr lang="en-US" sz="1000" b="0" i="0" err="1"/>
                        <a:t>Apabila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pemajangan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produk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kurang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dari</a:t>
                      </a:r>
                      <a:r>
                        <a:rPr lang="en-US" sz="1000" b="0" i="0"/>
                        <a:t> 3 pack </a:t>
                      </a:r>
                      <a:r>
                        <a:rPr lang="en-US" sz="1000" b="0" i="0" err="1"/>
                        <a:t>akan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mendapat</a:t>
                      </a:r>
                      <a:r>
                        <a:rPr lang="en-US" sz="1000" b="0" i="0"/>
                        <a:t> 10koin/pack</a:t>
                      </a:r>
                      <a:endParaRPr lang="en-ID" sz="1000" b="0" i="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</p:spTree>
    <p:extLst>
      <p:ext uri="{BB962C8B-B14F-4D97-AF65-F5344CB8AC3E}">
        <p14:creationId xmlns:p14="http://schemas.microsoft.com/office/powerpoint/2010/main" val="3515428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5C142B1F-591B-34B6-76A4-9BD7AB7F5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881" y="1206285"/>
            <a:ext cx="2280000" cy="494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3E6E864C-16AB-94D8-5760-16257F15BC3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241976" y="1003562"/>
            <a:ext cx="2530545" cy="532627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/>
        </p:nvGraphicFramePr>
        <p:xfrm>
          <a:off x="3078080" y="981790"/>
          <a:ext cx="8816200" cy="5546636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CC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 Unwrapped – MKC12 (Level 3-4)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da-DK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Ayo Pajang Kretek Jagoanmu!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11364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1" err="1"/>
                        <a:t>Deskripsi</a:t>
                      </a:r>
                      <a:r>
                        <a:rPr lang="en-ID" sz="1000" b="1"/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/>
                        <a:t>Hai Sahabat SRC!</a:t>
                      </a:r>
                    </a:p>
                    <a:p>
                      <a:r>
                        <a:rPr lang="en-ID" sz="1000"/>
                        <a:t>Kini hadir Magnum Kretek Coklat tanpa selongsong yang bikin produk di tokomu makin lengkap. Selesaikan misinya untuk berkesempatan mendapatkan hingga 50 koin dan 120XP*!</a:t>
                      </a:r>
                    </a:p>
                    <a:p>
                      <a:r>
                        <a:rPr lang="en-ID" sz="1000"/>
                        <a:t>Sahabat SRC berkesempatan mendapatkan tambahan 30 XP jika minimal 4 anggota paguyuban mengerjakan misi ini, </a:t>
                      </a:r>
                    </a:p>
                    <a:p>
                      <a:r>
                        <a:rPr lang="en-ID" sz="1000"/>
                        <a:t>*Akan dilakukan verifikasi terlebih dahulu</a:t>
                      </a:r>
                    </a:p>
                    <a:p>
                      <a:r>
                        <a:rPr lang="en-ID" sz="1000"/>
                        <a:t>Misi hanya ditujukan kepada retailer dan tidak kepada konsumen.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Start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err="1"/>
                        <a:t>Misi</a:t>
                      </a:r>
                      <a:r>
                        <a:rPr lang="en-US" sz="1000"/>
                        <a:t> 1 : 3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 | </a:t>
                      </a:r>
                      <a:r>
                        <a:rPr lang="en-US" sz="1000" err="1"/>
                        <a:t>Misi</a:t>
                      </a:r>
                      <a:r>
                        <a:rPr lang="en-US" sz="1000"/>
                        <a:t> 2 : 17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End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err="1"/>
                        <a:t>Misi</a:t>
                      </a:r>
                      <a:r>
                        <a:rPr lang="en-US" sz="1000"/>
                        <a:t> 1 : 16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 | </a:t>
                      </a:r>
                      <a:r>
                        <a:rPr lang="en-US" sz="1000" err="1"/>
                        <a:t>Misi</a:t>
                      </a:r>
                      <a:r>
                        <a:rPr lang="en-US" sz="1000"/>
                        <a:t> 2 : 2 </a:t>
                      </a:r>
                      <a:r>
                        <a:rPr lang="en-US" sz="1000" err="1"/>
                        <a:t>Maret</a:t>
                      </a:r>
                      <a:r>
                        <a:rPr lang="en-US" sz="1000"/>
                        <a:t>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Reward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50 koin &amp; 120 XP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2376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 err="1"/>
                        <a:t>Instruksi</a:t>
                      </a:r>
                      <a:r>
                        <a:rPr lang="en-US" sz="1000" b="1"/>
                        <a:t> </a:t>
                      </a:r>
                      <a:r>
                        <a:rPr lang="en-US" sz="1000" b="1" err="1"/>
                        <a:t>Misi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228600" indent="-228600">
                        <a:buAutoNum type="arabicPeriod"/>
                      </a:pPr>
                      <a:r>
                        <a:rPr lang="en-ID" sz="1000"/>
                        <a:t>Apakah Sahabat sudah menjual produk Magnum Kretek Coklat di toko?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a. Sudah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b. Belum (Lanjut ke pertanyaan #4)</a:t>
                      </a:r>
                    </a:p>
                    <a:p>
                      <a:pPr marL="0" indent="0">
                        <a:buNone/>
                      </a:pPr>
                      <a:endParaRPr lang="en-ID" sz="1000"/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2. Berapa stok Magnum Kretek Coklat di toko Sahabat?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a. 1–3 bungkus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b. Lebih dari 3 bungkus</a:t>
                      </a:r>
                    </a:p>
                    <a:p>
                      <a:pPr marL="0" indent="0">
                        <a:buNone/>
                      </a:pPr>
                      <a:endParaRPr lang="en-ID" sz="1000"/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3. Yuk fotokan pajangan stok Magnum Kretek Coklat dan memberikan label harga di Toko Sahabat. Pastikan sesuai dengan panduan di bawah ini. Catatan: Pajangan harus kemasan utuh (tidak kemasan kosong/terbuka)</a:t>
                      </a:r>
                    </a:p>
                    <a:p>
                      <a:pPr marL="0" indent="0">
                        <a:buNone/>
                      </a:pPr>
                      <a:endParaRPr lang="en-ID" sz="1000"/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4. Magnum Kretek Coklat sudah tersedia dengan harga jual rekomendasi Rp 14,000. Yuk  segera dapatkan di mitra SRC langganan ya.. Yuk  segera dapatkan di mitra SRC langganan ya.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Ya. Saya Mengerti.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934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/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0" i="0"/>
                        <a:t>Toko melakukan pemajangan produk minimal 3 pack atau lebih dapat 30koin</a:t>
                      </a:r>
                      <a:br>
                        <a:rPr lang="en-US" sz="1000" b="0" i="0"/>
                      </a:br>
                      <a:r>
                        <a:rPr lang="en-US" sz="1000" b="0" i="0"/>
                        <a:t>Apabila pemajangan produk kurang dari 3 pack akan mendapat 10koin/pack</a:t>
                      </a:r>
                      <a:endParaRPr lang="en-ID" sz="1000" b="0" i="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</p:spTree>
    <p:extLst>
      <p:ext uri="{BB962C8B-B14F-4D97-AF65-F5344CB8AC3E}">
        <p14:creationId xmlns:p14="http://schemas.microsoft.com/office/powerpoint/2010/main" val="1170051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2FDB0106-865E-4A3F-683C-252A47A5E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08" y="1281959"/>
            <a:ext cx="2259677" cy="4898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/>
        </p:nvGraphicFramePr>
        <p:xfrm>
          <a:off x="3078080" y="981790"/>
          <a:ext cx="8816200" cy="5546636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CC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 Unwrapped – SGO12 (Level 1-2)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da-DK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Ayo Pajang Kretek Jagoanmu!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11364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1" err="1"/>
                        <a:t>Deskripsi</a:t>
                      </a:r>
                      <a:r>
                        <a:rPr lang="en-ID" sz="1000" b="1"/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/>
                        <a:t>Hai Sahabat SRC!</a:t>
                      </a:r>
                    </a:p>
                    <a:p>
                      <a:r>
                        <a:rPr lang="en-ID" sz="1000"/>
                        <a:t>Yuk lengkapi etalase tokomu dengan Sampoerna A Prima Go. Selesaikan misinya untuk berkesempatan mendapatkan hingga 30 koin dan 120XP*!</a:t>
                      </a:r>
                    </a:p>
                    <a:p>
                      <a:r>
                        <a:rPr lang="en-ID" sz="1000"/>
                        <a:t>Sahabat SRC berkesempatan mendapatkan tambahan 30 XP jika minimal 4 anggota paguyuban mengerjakan misi ini, </a:t>
                      </a:r>
                    </a:p>
                    <a:p>
                      <a:r>
                        <a:rPr lang="en-ID" sz="1000"/>
                        <a:t>*Akan dilakukan verifikasi terlebih dahulu</a:t>
                      </a:r>
                    </a:p>
                    <a:p>
                      <a:r>
                        <a:rPr lang="en-ID" sz="1000"/>
                        <a:t>Misi hanya ditujukan kepada retailer dan tidak kepada konsumen.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Start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err="1"/>
                        <a:t>Misi</a:t>
                      </a:r>
                      <a:r>
                        <a:rPr lang="en-US" sz="1000"/>
                        <a:t> 1 : 3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 | </a:t>
                      </a:r>
                      <a:r>
                        <a:rPr lang="en-US" sz="1000" err="1"/>
                        <a:t>Misi</a:t>
                      </a:r>
                      <a:r>
                        <a:rPr lang="en-US" sz="1000"/>
                        <a:t> 2 : 17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End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err="1"/>
                        <a:t>Misi</a:t>
                      </a:r>
                      <a:r>
                        <a:rPr lang="en-US" sz="1000"/>
                        <a:t> 1 : 16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 | </a:t>
                      </a:r>
                      <a:r>
                        <a:rPr lang="en-US" sz="1000" err="1"/>
                        <a:t>Misi</a:t>
                      </a:r>
                      <a:r>
                        <a:rPr lang="en-US" sz="1000"/>
                        <a:t> 2 : 2 </a:t>
                      </a:r>
                      <a:r>
                        <a:rPr lang="en-US" sz="1000" err="1"/>
                        <a:t>Maret</a:t>
                      </a:r>
                      <a:r>
                        <a:rPr lang="en-US" sz="1000"/>
                        <a:t>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Reward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30 koin &amp; 120 XP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2376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 err="1"/>
                        <a:t>Instruksi</a:t>
                      </a:r>
                      <a:r>
                        <a:rPr lang="en-US" sz="1000" b="1"/>
                        <a:t> </a:t>
                      </a:r>
                      <a:r>
                        <a:rPr lang="en-US" sz="1000" b="1" err="1"/>
                        <a:t>Misi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228600" indent="-228600">
                        <a:buAutoNum type="arabicPeriod"/>
                      </a:pPr>
                      <a:r>
                        <a:rPr lang="en-ID" sz="1000"/>
                        <a:t>Apakah Sahabat sudah menjual produk Sampoerna A Prima Go di toko?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a. Sudah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b. Belum (Lanjut ke pertanyaan #4)</a:t>
                      </a:r>
                    </a:p>
                    <a:p>
                      <a:pPr marL="0" indent="0">
                        <a:buNone/>
                      </a:pPr>
                      <a:endParaRPr lang="en-ID" sz="1000"/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2. </a:t>
                      </a:r>
                      <a:r>
                        <a:rPr lang="it-IT" sz="1000"/>
                        <a:t>Berapa stok Sampoerna A Prima Go di toko Sahabat?</a:t>
                      </a:r>
                      <a:endParaRPr lang="en-ID" sz="1000"/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a. 1–3 bungkus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b. Lebih dari 3 bungkus</a:t>
                      </a:r>
                    </a:p>
                    <a:p>
                      <a:pPr marL="0" indent="0">
                        <a:buNone/>
                      </a:pPr>
                      <a:endParaRPr lang="en-ID" sz="1000"/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3. Yuk fotokan pajangan stok Sampoerna A Prima Go dan memberikan label harga di Toko Sahabat. Pastikan sesuai dengan panduan di bawah ini. Catatan: Pajangan harus kemasan utuh (tidak kemasan kosong/terbuka)</a:t>
                      </a:r>
                    </a:p>
                    <a:p>
                      <a:pPr marL="0" indent="0">
                        <a:buNone/>
                      </a:pPr>
                      <a:endParaRPr lang="en-ID" sz="1000"/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4. Sampoerna A Prima Go sudah tersedia dengan harga jual rekomendasi Rp 14,000. Yuk  segera dapatkan di mitra SRC langganan ya.. Yuk  segera dapatkan di mitra SRC langganan ya.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Ya. Saya Mengerti.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934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/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0" i="0" err="1"/>
                        <a:t>Toko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melakukan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pemajangan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produk</a:t>
                      </a:r>
                      <a:r>
                        <a:rPr lang="en-US" sz="1000" b="0" i="0"/>
                        <a:t> minimal 3 pack </a:t>
                      </a:r>
                      <a:r>
                        <a:rPr lang="en-US" sz="1000" b="0" i="0" err="1"/>
                        <a:t>atau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lebih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dapat</a:t>
                      </a:r>
                      <a:r>
                        <a:rPr lang="en-US" sz="1000" b="0" i="0"/>
                        <a:t> 30koin</a:t>
                      </a:r>
                      <a:br>
                        <a:rPr lang="en-US" sz="1000" b="0" i="0"/>
                      </a:br>
                      <a:r>
                        <a:rPr lang="en-US" sz="1000" b="0" i="0" err="1"/>
                        <a:t>Apabila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pemajangan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produk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kurang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dari</a:t>
                      </a:r>
                      <a:r>
                        <a:rPr lang="en-US" sz="1000" b="0" i="0"/>
                        <a:t> 3 pack </a:t>
                      </a:r>
                      <a:r>
                        <a:rPr lang="en-US" sz="1000" b="0" i="0" err="1"/>
                        <a:t>akan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mendapat</a:t>
                      </a:r>
                      <a:r>
                        <a:rPr lang="en-US" sz="1000" b="0" i="0"/>
                        <a:t> 10koin/pack</a:t>
                      </a:r>
                      <a:endParaRPr lang="en-ID" sz="1000" b="0" i="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  <p:pic>
        <p:nvPicPr>
          <p:cNvPr id="5" name="Picture 4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4A16EBD6-C024-48B5-BD52-8D7DBFB6AA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241976" y="1003562"/>
            <a:ext cx="2530545" cy="532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006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26DD24A9-6FB6-9D8A-63C3-1102F1F73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59" y="1237162"/>
            <a:ext cx="2251510" cy="4880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/>
        </p:nvGraphicFramePr>
        <p:xfrm>
          <a:off x="3078080" y="981790"/>
          <a:ext cx="8816200" cy="5546636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CC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 Unwrapped – SGO12 (Level 3-4)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da-DK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Ayo Pajang Kretek Jagoanmu!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11364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1" err="1"/>
                        <a:t>Deskripsi</a:t>
                      </a:r>
                      <a:r>
                        <a:rPr lang="en-ID" sz="1000" b="1"/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/>
                        <a:t>Hai Sahabat SRC!</a:t>
                      </a:r>
                    </a:p>
                    <a:p>
                      <a:r>
                        <a:rPr lang="en-ID" sz="1000"/>
                        <a:t>Yuk lengkapi etalase tokomu dengan Sampoerna A Prima Go. Selesaikan misinya untuk berkesempatan mendapatkan hingga 50 koin dan 120XP*!</a:t>
                      </a:r>
                    </a:p>
                    <a:p>
                      <a:r>
                        <a:rPr lang="en-ID" sz="1000"/>
                        <a:t>Sahabat SRC berkesempatan mendapatkan tambahan 30 XP jika minimal 4 anggota paguyuban mengerjakan misi ini, </a:t>
                      </a:r>
                    </a:p>
                    <a:p>
                      <a:r>
                        <a:rPr lang="en-ID" sz="1000"/>
                        <a:t>*Akan dilakukan verifikasi terlebih dahulu</a:t>
                      </a:r>
                    </a:p>
                    <a:p>
                      <a:r>
                        <a:rPr lang="en-ID" sz="1000"/>
                        <a:t>Misi hanya ditujukan kepada retailer dan tidak kepada konsumen.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Start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err="1"/>
                        <a:t>Misi</a:t>
                      </a:r>
                      <a:r>
                        <a:rPr lang="en-US" sz="1000"/>
                        <a:t> 1 : 3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 | </a:t>
                      </a:r>
                      <a:r>
                        <a:rPr lang="en-US" sz="1000" err="1"/>
                        <a:t>Misi</a:t>
                      </a:r>
                      <a:r>
                        <a:rPr lang="en-US" sz="1000"/>
                        <a:t> 2 : 17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End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err="1"/>
                        <a:t>Misi</a:t>
                      </a:r>
                      <a:r>
                        <a:rPr lang="en-US" sz="1000"/>
                        <a:t> 1 : 16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 | </a:t>
                      </a:r>
                      <a:r>
                        <a:rPr lang="en-US" sz="1000" err="1"/>
                        <a:t>Misi</a:t>
                      </a:r>
                      <a:r>
                        <a:rPr lang="en-US" sz="1000"/>
                        <a:t> 2 : 2 </a:t>
                      </a:r>
                      <a:r>
                        <a:rPr lang="en-US" sz="1000" err="1"/>
                        <a:t>Maret</a:t>
                      </a:r>
                      <a:r>
                        <a:rPr lang="en-US" sz="1000"/>
                        <a:t>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Reward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50 koin &amp; 120 XP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2376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 err="1"/>
                        <a:t>Instruksi</a:t>
                      </a:r>
                      <a:r>
                        <a:rPr lang="en-US" sz="1000" b="1"/>
                        <a:t> </a:t>
                      </a:r>
                      <a:r>
                        <a:rPr lang="en-US" sz="1000" b="1" err="1"/>
                        <a:t>Misi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228600" indent="-228600">
                        <a:buAutoNum type="arabicPeriod"/>
                      </a:pPr>
                      <a:r>
                        <a:rPr lang="en-ID" sz="1000"/>
                        <a:t>Apakah Sahabat sudah menjual produk Sampoerna A Prima Go di toko?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a. Sudah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b. Belum (Lanjut ke pertanyaan #4)</a:t>
                      </a:r>
                    </a:p>
                    <a:p>
                      <a:pPr marL="0" indent="0">
                        <a:buNone/>
                      </a:pPr>
                      <a:endParaRPr lang="en-ID" sz="1000"/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2. </a:t>
                      </a:r>
                      <a:r>
                        <a:rPr lang="it-IT" sz="1000"/>
                        <a:t>Berapa stok Sampoerna A Prima Go di toko Sahabat?</a:t>
                      </a:r>
                      <a:endParaRPr lang="en-ID" sz="1000"/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a. 1–3 bungkus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b. Lebih dari 3 bungkus</a:t>
                      </a:r>
                    </a:p>
                    <a:p>
                      <a:pPr marL="0" indent="0">
                        <a:buNone/>
                      </a:pPr>
                      <a:endParaRPr lang="en-ID" sz="1000"/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3. Yuk fotokan pajangan stok Sampoerna A Prima Go dan memberikan label harga di Toko Sahabat. Pastikan sesuai dengan panduan di bawah ini. Catatan: Pajangan harus kemasan utuh (tidak kemasan kosong/terbuka)</a:t>
                      </a:r>
                    </a:p>
                    <a:p>
                      <a:pPr marL="0" indent="0">
                        <a:buNone/>
                      </a:pPr>
                      <a:endParaRPr lang="en-ID" sz="1000"/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4. Sampoerna A Prima Go sudah tersedia dengan harga jual rekomendasi Rp 14,000. Yuk  segera dapatkan di mitra SRC langganan ya.. Yuk  segera dapatkan di mitra SRC langganan ya.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/>
                        <a:t>Ya. Saya Mengerti.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934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/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0" i="0" err="1"/>
                        <a:t>Toko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melakukan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pemajangan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produk</a:t>
                      </a:r>
                      <a:r>
                        <a:rPr lang="en-US" sz="1000" b="0" i="0"/>
                        <a:t> minimal 3 pack </a:t>
                      </a:r>
                      <a:r>
                        <a:rPr lang="en-US" sz="1000" b="0" i="0" err="1"/>
                        <a:t>atau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lebih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dapat</a:t>
                      </a:r>
                      <a:r>
                        <a:rPr lang="en-US" sz="1000" b="0" i="0"/>
                        <a:t> 30koin</a:t>
                      </a:r>
                      <a:br>
                        <a:rPr lang="en-US" sz="1000" b="0" i="0"/>
                      </a:br>
                      <a:r>
                        <a:rPr lang="en-US" sz="1000" b="0" i="0" err="1"/>
                        <a:t>Apabila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pemajangan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produk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kurang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dari</a:t>
                      </a:r>
                      <a:r>
                        <a:rPr lang="en-US" sz="1000" b="0" i="0"/>
                        <a:t> 3 pack </a:t>
                      </a:r>
                      <a:r>
                        <a:rPr lang="en-US" sz="1000" b="0" i="0" err="1"/>
                        <a:t>akan</a:t>
                      </a:r>
                      <a:r>
                        <a:rPr lang="en-US" sz="1000" b="0" i="0"/>
                        <a:t> </a:t>
                      </a:r>
                      <a:r>
                        <a:rPr lang="en-US" sz="1000" b="0" i="0" err="1"/>
                        <a:t>mendapat</a:t>
                      </a:r>
                      <a:r>
                        <a:rPr lang="en-US" sz="1000" b="0" i="0"/>
                        <a:t> 10koin/pack</a:t>
                      </a:r>
                      <a:endParaRPr lang="en-ID" sz="1000" b="0" i="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  <p:pic>
        <p:nvPicPr>
          <p:cNvPr id="5" name="Picture 4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A52B4853-F4BE-392C-D940-3CA9AB4D95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241976" y="1003562"/>
            <a:ext cx="2530545" cy="532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040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ellphone&#10;&#10;Description automatically generated">
            <a:extLst>
              <a:ext uri="{FF2B5EF4-FFF2-40B4-BE49-F238E27FC236}">
                <a16:creationId xmlns:a16="http://schemas.microsoft.com/office/drawing/2014/main" id="{FC33BDEB-31C5-1CC6-9A1D-DCCB1DF1D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7"/>
          <a:stretch/>
        </p:blipFill>
        <p:spPr>
          <a:xfrm>
            <a:off x="383451" y="2028396"/>
            <a:ext cx="2304347" cy="2820202"/>
          </a:xfrm>
          <a:prstGeom prst="rect">
            <a:avLst/>
          </a:prstGeom>
        </p:spPr>
      </p:pic>
      <p:pic>
        <p:nvPicPr>
          <p:cNvPr id="11" name="Picture 10" descr="A screenshot of a cellphone&#10;&#10;Description automatically generated">
            <a:extLst>
              <a:ext uri="{FF2B5EF4-FFF2-40B4-BE49-F238E27FC236}">
                <a16:creationId xmlns:a16="http://schemas.microsoft.com/office/drawing/2014/main" id="{E6DF089F-0679-52CD-113B-255A013E0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706"/>
          <a:stretch/>
        </p:blipFill>
        <p:spPr>
          <a:xfrm>
            <a:off x="383451" y="1310304"/>
            <a:ext cx="2304347" cy="404261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025792"/>
              </p:ext>
            </p:extLst>
          </p:nvPr>
        </p:nvGraphicFramePr>
        <p:xfrm>
          <a:off x="3078080" y="981790"/>
          <a:ext cx="8816200" cy="5358404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CC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 NPL MLA (Level 1-2)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da-DK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Yuk selesaiin kuis SAMPOERNA A Mild ‘Edisi 89’ yang baru! (Misi 1)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11364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1" err="1"/>
                        <a:t>Deskripsi</a:t>
                      </a:r>
                      <a:r>
                        <a:rPr lang="en-ID" sz="1000" b="1"/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/>
                        <a:t>Hai Sahabat SRC! Sekarang udah hadir loh Sampoerna A Mild ‘Edisi 89’ yang siap membuat tokomu makin lengkap. Jangan lupa yah ikutin misinya untuk berkesempatan mendapatkan hingga 30 koin dan 120XP*.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/>
                        <a:t>Sahabat SRC berkesempatan mendapatkan tambahan 30 XP jika minimal 4 anggota paguyuban mengerjakan misi ini, </a:t>
                      </a:r>
                    </a:p>
                    <a:p>
                      <a:r>
                        <a:rPr lang="en-ID" sz="1000"/>
                        <a:t>*Akan dilakukan verifikasi terlebih dahulu </a:t>
                      </a:r>
                    </a:p>
                    <a:p>
                      <a:r>
                        <a:rPr lang="en-ID" sz="1000"/>
                        <a:t>Misi hanya ditujukan kepada retailer dan tidak kepada konsumen.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Start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10 Februari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End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23 Februari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Reward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30 koin &amp; 120 XP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221031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 err="1"/>
                        <a:t>Instruksi</a:t>
                      </a:r>
                      <a:r>
                        <a:rPr lang="en-US" sz="1000" b="1"/>
                        <a:t> </a:t>
                      </a:r>
                      <a:r>
                        <a:rPr lang="en-US" sz="1000" b="1" err="1"/>
                        <a:t>Misi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1. Sahabat udah tau belum sih bahwa ada yang baru dari Sampoerna A</a:t>
                      </a: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Lato"/>
                          <a:cs typeface="Poppins" panose="00000500000000000000" pitchFamily="2" charset="0"/>
                        </a:rPr>
                        <a:t> yaitu Sampoerna A Mild ‘Edisi 89’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?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oppins" panose="00000500000000000000" pitchFamily="2" charset="0"/>
                        <a:ea typeface="ＭＳ Ｐゴシック" pitchFamily="34" charset="-128"/>
                        <a:cs typeface="Poppins" panose="00000500000000000000" pitchFamily="2" charset="0"/>
                      </a:endParaRP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2. </a:t>
                      </a:r>
                      <a:r>
                        <a:rPr kumimoji="0" lang="en-ID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Kira-kira pack Sampoerna A Mild ‘Edisi 89’ tuh yang mana sih?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oppins" panose="00000500000000000000" pitchFamily="2" charset="0"/>
                        <a:ea typeface="ＭＳ Ｐゴシック" pitchFamily="34" charset="-128"/>
                        <a:cs typeface="Poppins" panose="00000500000000000000" pitchFamily="2" charset="0"/>
                      </a:endParaRP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3. </a:t>
                      </a:r>
                      <a:r>
                        <a:rPr kumimoji="0" lang="en-ID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Hayo, kira-kira berapa sih harga Sampoerna A Mild ‘Edisi 89’ yang baru? 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oppins" panose="00000500000000000000" pitchFamily="2" charset="0"/>
                        <a:ea typeface="ＭＳ Ｐゴシック" pitchFamily="34" charset="-128"/>
                        <a:cs typeface="Poppins" panose="00000500000000000000" pitchFamily="2" charset="0"/>
                      </a:endParaRP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4. Yuk fotokan pajangan stok Sampoerna A Mild ‘Edisi 89 dan </a:t>
                      </a:r>
                      <a:r>
                        <a:rPr lang="en-ID" sz="1000"/>
                        <a:t>memberikan label harga 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di toko Sahabat. Pastikan sesuai dengan panduan di bawah ini. Catatan: Pajangan harus kemasan utuh (tidak kemasan kosong/terbuka)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oppins" panose="00000500000000000000" pitchFamily="2" charset="0"/>
                        <a:ea typeface="ＭＳ Ｐゴシック" pitchFamily="34" charset="-128"/>
                        <a:cs typeface="Poppins" panose="00000500000000000000" pitchFamily="2" charset="0"/>
                      </a:endParaRP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5. Sampoerna A Mild ‘Edisi 89’ adalah produk edisi special dari Sampoerna A Mild dengan harga Rp 35.000 dengan desain premium khas A Mild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Lato"/>
                          <a:cs typeface="Poppins" panose="00000500000000000000" pitchFamily="2" charset="0"/>
                        </a:rPr>
                        <a:t>Sampoerna A Mild ‘Edisi 89’ 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sudah tersedia dengan harga jual rekomendasi Rp 35.000 loh. Yuk, jangan lupa dapetin di </a:t>
                      </a:r>
                      <a:r>
                        <a:rPr lang="en-ID" sz="1000"/>
                        <a:t>mitra SRC 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 langganan!</a:t>
                      </a:r>
                      <a:endParaRPr kumimoji="0" 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oppins" panose="00000500000000000000" pitchFamily="2" charset="0"/>
                        <a:ea typeface="Lato" panose="020F0502020204030203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934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/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0" i="0">
                          <a:solidFill>
                            <a:schemeClr val="tx1"/>
                          </a:solidFill>
                        </a:rPr>
                        <a:t>Toko melakukan pemajangan produk minimal 3 pack atau lebih dapat 30koin</a:t>
                      </a:r>
                      <a:br>
                        <a:rPr lang="en-US" sz="1000" b="0" i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000" b="0" i="0">
                          <a:solidFill>
                            <a:schemeClr val="tx1"/>
                          </a:solidFill>
                        </a:rPr>
                        <a:t>Apabila pemajangan produk kurang dari 3 pack akan mendapat 10koin</a:t>
                      </a:r>
                      <a:endParaRPr lang="en-ID" sz="1000" b="0" i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  <p:pic>
        <p:nvPicPr>
          <p:cNvPr id="3" name="Picture 2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C350E605-134E-C13E-9A9B-B52AB089F78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241976" y="1003562"/>
            <a:ext cx="2530545" cy="532627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55E91DD-9656-6F1C-3BFB-B3EEE1797A4F}"/>
              </a:ext>
            </a:extLst>
          </p:cNvPr>
          <p:cNvSpPr txBox="1"/>
          <p:nvPr/>
        </p:nvSpPr>
        <p:spPr>
          <a:xfrm>
            <a:off x="2224216" y="4020825"/>
            <a:ext cx="425861" cy="24622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sz="500" err="1"/>
              <a:t>Potensi</a:t>
            </a:r>
            <a:endParaRPr lang="en-US" sz="500"/>
          </a:p>
          <a:p>
            <a:r>
              <a:rPr lang="en-US" sz="500" b="1"/>
              <a:t>120 XP</a:t>
            </a:r>
          </a:p>
        </p:txBody>
      </p:sp>
    </p:spTree>
    <p:extLst>
      <p:ext uri="{BB962C8B-B14F-4D97-AF65-F5344CB8AC3E}">
        <p14:creationId xmlns:p14="http://schemas.microsoft.com/office/powerpoint/2010/main" val="779064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137043"/>
              </p:ext>
            </p:extLst>
          </p:nvPr>
        </p:nvGraphicFramePr>
        <p:xfrm>
          <a:off x="3078080" y="981790"/>
          <a:ext cx="8816200" cy="5156386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CC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 NPL MLA (Level 3-4)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da-DK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Yuk selesaiin kuis SAMPOERNA A Mild ‘Edisi 89’ yang baru! (Misi 1)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11364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1" err="1"/>
                        <a:t>Deskripsi</a:t>
                      </a:r>
                      <a:r>
                        <a:rPr lang="en-ID" sz="1000" b="1"/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/>
                        <a:t>Hai Sahabat SRC! </a:t>
                      </a:r>
                    </a:p>
                    <a:p>
                      <a:r>
                        <a:rPr lang="en-ID" sz="1000"/>
                        <a:t>Sekarang udah hadir loh Sampoerna A Mild ‘Edisi 89’ yang siap membuat tokomu makin lengkap. Jangan lupa yah ikutin misinya untuk berkesempatan mendapatkan hingga 60 koin dan 120XP*.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/>
                        <a:t>Sahabat SRC berkesempatan mendapatkan tambahan 30 XP jika minimal 4 anggota paguyuban mengerjakan misi ini, </a:t>
                      </a:r>
                    </a:p>
                    <a:p>
                      <a:r>
                        <a:rPr lang="en-ID" sz="1000"/>
                        <a:t>*Akan dilakukan verifikasi terlebih dahulu </a:t>
                      </a:r>
                    </a:p>
                    <a:p>
                      <a:r>
                        <a:rPr lang="en-ID" sz="1000"/>
                        <a:t>Misi hanya ditujukan kepada retailer dan tidak kepada konsumen.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Start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10 Februari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End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23 Februari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Reward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60 koin &amp; 120 XP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19864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 err="1"/>
                        <a:t>Instruksi</a:t>
                      </a:r>
                      <a:r>
                        <a:rPr lang="en-US" sz="1000" b="1"/>
                        <a:t> </a:t>
                      </a:r>
                      <a:r>
                        <a:rPr lang="en-US" sz="1000" b="1" err="1"/>
                        <a:t>Misi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1. Sahabat udah tau belum sih bahwa ada yang baru dari Sampoerna A</a:t>
                      </a: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Lato"/>
                          <a:cs typeface="Poppins" panose="00000500000000000000" pitchFamily="2" charset="0"/>
                        </a:rPr>
                        <a:t> yaitu Sampoerna A Mild ‘Edisi 89’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?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2. </a:t>
                      </a:r>
                      <a:r>
                        <a:rPr kumimoji="0" lang="en-ID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Kira-kira pack Sampoerna A Mild ‘Edisi 89’ tuh yang mana sih?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3. </a:t>
                      </a:r>
                      <a:r>
                        <a:rPr kumimoji="0" lang="en-ID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Hayo, kira-kira berapa sih harga Sampoerna A Mild ‘Edisi 89’ yang baru? 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4. Yuk fotokan pajangan stok Sampoerna A Mild ‘Edisi 89 dan </a:t>
                      </a:r>
                      <a:r>
                        <a:rPr lang="en-ID" sz="1000"/>
                        <a:t>memberikan label harga 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di toko Sahabat. Pastikan sesuai dengan panduan di bawah ini. Catatan: Pajangan harus kemasan utuh (tidak kemasan kosong/terbuka)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oppins" panose="00000500000000000000" pitchFamily="2" charset="0"/>
                        <a:ea typeface="ＭＳ Ｐゴシック" pitchFamily="34" charset="-128"/>
                        <a:cs typeface="Poppins" panose="00000500000000000000" pitchFamily="2" charset="0"/>
                      </a:endParaRP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5. Sampoerna A Mild ‘Edisi 89’ adalah produk edisi special dari Sampoerna A Mild dengan harga Rp 35.000 dengan desain premium khas A Mild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Lato"/>
                          <a:cs typeface="Poppins" panose="00000500000000000000" pitchFamily="2" charset="0"/>
                        </a:rPr>
                        <a:t>Sampoerna A Mild ‘Edisi 89’ 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sudah tersedia dengan harga jual rekomendasi Rp 35.000 loh. Yuk, jangan lupa dapetin di </a:t>
                      </a:r>
                      <a:r>
                        <a:rPr lang="en-ID" sz="1000"/>
                        <a:t>mitra SRC 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 langganan!</a:t>
                      </a:r>
                      <a:endParaRPr kumimoji="0" lang="en-US" sz="10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oppins" panose="00000500000000000000" pitchFamily="2" charset="0"/>
                        <a:ea typeface="Lato" panose="020F0502020204030203" pitchFamily="34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934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/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0" i="0">
                          <a:solidFill>
                            <a:schemeClr val="tx1"/>
                          </a:solidFill>
                        </a:rPr>
                        <a:t>Toko melakukan pemajangan produk minimal 5 pack atau lebih dapat 60koin</a:t>
                      </a:r>
                      <a:br>
                        <a:rPr lang="en-US" sz="1000" b="0" i="0">
                          <a:solidFill>
                            <a:schemeClr val="tx1"/>
                          </a:solidFill>
                        </a:rPr>
                      </a:br>
                      <a:r>
                        <a:rPr lang="en-US" sz="1000" b="0" i="0">
                          <a:solidFill>
                            <a:schemeClr val="tx1"/>
                          </a:solidFill>
                        </a:rPr>
                        <a:t>Apabila pemajangan produk 3&amp; 4 akan mendapat 30koin, kurang dari itu akan mendapat 20koin</a:t>
                      </a:r>
                      <a:endParaRPr lang="en-ID" sz="1000" b="0" i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  <p:pic>
        <p:nvPicPr>
          <p:cNvPr id="3" name="Picture 2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2969A953-9DB5-E488-81B0-FA95557D56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241976" y="1003562"/>
            <a:ext cx="2530545" cy="5326278"/>
          </a:xfrm>
          <a:prstGeom prst="rect">
            <a:avLst/>
          </a:prstGeom>
        </p:spPr>
      </p:pic>
      <p:pic>
        <p:nvPicPr>
          <p:cNvPr id="6" name="Picture 5" descr="A screenshot of a cellphone&#10;&#10;Description automatically generated">
            <a:extLst>
              <a:ext uri="{FF2B5EF4-FFF2-40B4-BE49-F238E27FC236}">
                <a16:creationId xmlns:a16="http://schemas.microsoft.com/office/drawing/2014/main" id="{D4471C10-F866-CB31-8E75-B5DC5BD4F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7"/>
          <a:stretch/>
        </p:blipFill>
        <p:spPr>
          <a:xfrm>
            <a:off x="383451" y="2028396"/>
            <a:ext cx="2304347" cy="2820202"/>
          </a:xfrm>
          <a:prstGeom prst="rect">
            <a:avLst/>
          </a:prstGeom>
        </p:spPr>
      </p:pic>
      <p:pic>
        <p:nvPicPr>
          <p:cNvPr id="8" name="Picture 7" descr="A screenshot of a cellphone&#10;&#10;Description automatically generated">
            <a:extLst>
              <a:ext uri="{FF2B5EF4-FFF2-40B4-BE49-F238E27FC236}">
                <a16:creationId xmlns:a16="http://schemas.microsoft.com/office/drawing/2014/main" id="{48DECCCA-27D7-6590-D778-1EAF49F944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706"/>
          <a:stretch/>
        </p:blipFill>
        <p:spPr>
          <a:xfrm>
            <a:off x="383451" y="1310304"/>
            <a:ext cx="2304347" cy="404261"/>
          </a:xfrm>
          <a:prstGeom prst="rect">
            <a:avLst/>
          </a:prstGeom>
        </p:spPr>
      </p:pic>
      <p:pic>
        <p:nvPicPr>
          <p:cNvPr id="9" name="Picture 8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7E9A5539-4510-8016-02CD-8B575E251C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241976" y="1003562"/>
            <a:ext cx="2530545" cy="53262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83BAB08-2F7A-4A33-4093-113C675C7483}"/>
              </a:ext>
            </a:extLst>
          </p:cNvPr>
          <p:cNvSpPr txBox="1"/>
          <p:nvPr/>
        </p:nvSpPr>
        <p:spPr>
          <a:xfrm>
            <a:off x="2224216" y="4020825"/>
            <a:ext cx="425861" cy="24622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sz="500" err="1"/>
              <a:t>Potensi</a:t>
            </a:r>
            <a:endParaRPr lang="en-US" sz="500"/>
          </a:p>
          <a:p>
            <a:r>
              <a:rPr lang="en-US" sz="500" b="1"/>
              <a:t>120 XP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A2C540-6996-91F6-4F45-5AE792D7EB9E}"/>
              </a:ext>
            </a:extLst>
          </p:cNvPr>
          <p:cNvSpPr txBox="1"/>
          <p:nvPr/>
        </p:nvSpPr>
        <p:spPr>
          <a:xfrm>
            <a:off x="781722" y="4020825"/>
            <a:ext cx="816072" cy="246221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r>
              <a:rPr lang="en-US" sz="500" err="1"/>
              <a:t>Potensi</a:t>
            </a:r>
            <a:endParaRPr lang="en-US" sz="500"/>
          </a:p>
          <a:p>
            <a:r>
              <a:rPr lang="en-US" sz="500" b="1"/>
              <a:t>Rp. 6.000 ( 60 </a:t>
            </a:r>
            <a:r>
              <a:rPr lang="en-US" sz="500" b="1" err="1"/>
              <a:t>kon</a:t>
            </a:r>
            <a:r>
              <a:rPr lang="en-US" sz="500" b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75617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D2790A7F-D4DD-5CC8-7E34-9A3BE240AD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005" y="1259937"/>
            <a:ext cx="2239502" cy="485225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/>
        </p:nvGraphicFramePr>
        <p:xfrm>
          <a:off x="3078080" y="981790"/>
          <a:ext cx="8816200" cy="5699036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CC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Survey RSP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Survey Harga </a:t>
                      </a:r>
                      <a:r>
                        <a:rPr lang="en-ID" sz="1100" b="1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Jual</a:t>
                      </a:r>
                      <a:r>
                        <a:rPr lang="en-ID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b="1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Produk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113641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1" err="1"/>
                        <a:t>Deskripsi</a:t>
                      </a:r>
                      <a:r>
                        <a:rPr lang="en-ID" sz="1000" b="1"/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/>
                        <a:t>Hai Sahabat SRC! </a:t>
                      </a:r>
                    </a:p>
                    <a:p>
                      <a:r>
                        <a:rPr lang="en-ID" sz="1000"/>
                        <a:t>Memiliki harga jual yang bersaing &amp; memasang informasi harga merupakan hal penting dalam usahamu. Yuk kerjakan survey di bawah ini dengan potensi perolehan 240 XP!</a:t>
                      </a:r>
                    </a:p>
                    <a:p>
                      <a:endParaRPr lang="en-ID" sz="1000"/>
                    </a:p>
                    <a:p>
                      <a:r>
                        <a:rPr lang="en-ID" sz="1000"/>
                        <a:t>Sahabat SRC berkesempatan mendapatkan tambahan 60 XP jika 35% member paguyuban mengerjakan misi ini</a:t>
                      </a:r>
                    </a:p>
                    <a:p>
                      <a:endParaRPr lang="en-ID" sz="1000"/>
                    </a:p>
                    <a:p>
                      <a:r>
                        <a:rPr lang="en-ID" sz="1000"/>
                        <a:t>*Dengan mengisi survey ini, Anda berkenan memberikan informasi yang tidak bersifat rahasia. Namun apabila Anda tidak berkenan, silakan menutup misi ini.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Start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02 Februari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End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09 Februari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Reward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240 XP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237671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 err="1"/>
                        <a:t>Instruksi</a:t>
                      </a:r>
                      <a:r>
                        <a:rPr lang="en-US" sz="1000" b="1"/>
                        <a:t> </a:t>
                      </a:r>
                      <a:r>
                        <a:rPr lang="en-US" sz="1000" b="1" err="1"/>
                        <a:t>Misi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ID" sz="1000"/>
                        <a:t>Berapakah harga jual yang anda tentukan untuk Sampoerna A Mild 16? </a:t>
                      </a:r>
                    </a:p>
                    <a:p>
                      <a:pPr marL="685800" lvl="1" indent="-228600">
                        <a:buFont typeface="+mj-lt"/>
                        <a:buAutoNum type="alphaLcPeriod"/>
                      </a:pPr>
                      <a:r>
                        <a:rPr lang="en-ID" sz="1000"/>
                        <a:t>34.000</a:t>
                      </a:r>
                    </a:p>
                    <a:p>
                      <a:pPr marL="685800" lvl="1" indent="-228600">
                        <a:buFont typeface="+mj-lt"/>
                        <a:buAutoNum type="alphaLcPeriod"/>
                      </a:pPr>
                      <a:r>
                        <a:rPr lang="en-ID" sz="1000"/>
                        <a:t>34.500</a:t>
                      </a:r>
                    </a:p>
                    <a:p>
                      <a:pPr marL="685800" lvl="1" indent="-228600">
                        <a:buFont typeface="+mj-lt"/>
                        <a:buAutoNum type="alphaLcPeriod"/>
                      </a:pPr>
                      <a:r>
                        <a:rPr lang="en-ID" sz="1000"/>
                        <a:t>35.000</a:t>
                      </a:r>
                    </a:p>
                    <a:p>
                      <a:pPr marL="685800" lvl="1" indent="-228600">
                        <a:buFont typeface="+mj-lt"/>
                        <a:buAutoNum type="alphaLcPeriod"/>
                      </a:pPr>
                      <a:r>
                        <a:rPr lang="en-ID" sz="1000"/>
                        <a:t>35.500</a:t>
                      </a:r>
                    </a:p>
                    <a:p>
                      <a:pPr marL="685800" lvl="1" indent="-228600">
                        <a:buFont typeface="+mj-lt"/>
                        <a:buAutoNum type="alphaLcPeriod"/>
                      </a:pPr>
                      <a:r>
                        <a:rPr lang="en-ID" sz="1000"/>
                        <a:t>36.000</a:t>
                      </a:r>
                    </a:p>
                    <a:p>
                      <a:pPr marL="685800" lvl="1" indent="-228600">
                        <a:buFont typeface="+mj-lt"/>
                        <a:buAutoNum type="alphaLcPeriod"/>
                      </a:pPr>
                      <a:r>
                        <a:rPr lang="en-ID" sz="1000"/>
                        <a:t>36.500</a:t>
                      </a:r>
                    </a:p>
                    <a:p>
                      <a:pPr marL="685800" lvl="1" indent="-228600">
                        <a:buFont typeface="+mj-lt"/>
                        <a:buAutoNum type="alphaLcPeriod"/>
                      </a:pPr>
                      <a:r>
                        <a:rPr lang="en-ID" sz="1000"/>
                        <a:t>Tidak menjual </a:t>
                      </a:r>
                    </a:p>
                    <a:p>
                      <a:pPr marL="457200" lvl="1" indent="0">
                        <a:buFont typeface="+mj-lt"/>
                        <a:buNone/>
                      </a:pPr>
                      <a:endParaRPr lang="en-ID" sz="1000"/>
                    </a:p>
                    <a:p>
                      <a:pPr marL="0" lvl="0" indent="0">
                        <a:buFont typeface="+mj-lt"/>
                        <a:buNone/>
                      </a:pPr>
                      <a:r>
                        <a:rPr lang="en-ID" sz="1000"/>
                        <a:t>Terdapat 19 Brand yang di survey (HMS + Kompetitor)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934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/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0" i="0"/>
                        <a:t>Toko submit misi</a:t>
                      </a:r>
                      <a:endParaRPr lang="en-ID" sz="1000" b="0" i="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044A954-BB87-FD1B-3F7E-2692639FF48E}"/>
              </a:ext>
            </a:extLst>
          </p:cNvPr>
          <p:cNvGrpSpPr/>
          <p:nvPr/>
        </p:nvGrpSpPr>
        <p:grpSpPr>
          <a:xfrm>
            <a:off x="241976" y="1003562"/>
            <a:ext cx="2530545" cy="5326278"/>
            <a:chOff x="241976" y="1003562"/>
            <a:chExt cx="2530545" cy="5326278"/>
          </a:xfrm>
        </p:grpSpPr>
        <p:pic>
          <p:nvPicPr>
            <p:cNvPr id="3" name="Picture 2" descr="A black cell phone&#10;&#10;Description automatically generated with low confidence">
              <a:extLst>
                <a:ext uri="{FF2B5EF4-FFF2-40B4-BE49-F238E27FC236}">
                  <a16:creationId xmlns:a16="http://schemas.microsoft.com/office/drawing/2014/main" id="{B7AC7704-56CA-4548-3352-2E7AD596F8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26" t="2555" r="28043" b="1739"/>
            <a:stretch/>
          </p:blipFill>
          <p:spPr>
            <a:xfrm>
              <a:off x="241976" y="1003562"/>
              <a:ext cx="2530545" cy="532627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776D4F-C51C-15A0-9FFB-26AF0F0FE31B}"/>
                </a:ext>
              </a:extLst>
            </p:cNvPr>
            <p:cNvSpPr txBox="1"/>
            <p:nvPr/>
          </p:nvSpPr>
          <p:spPr>
            <a:xfrm>
              <a:off x="432251" y="2636169"/>
              <a:ext cx="1000895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sz="500" b="1" err="1"/>
                <a:t>Berlaku</a:t>
              </a:r>
              <a:r>
                <a:rPr lang="en-US" sz="500" b="1"/>
                <a:t> </a:t>
              </a:r>
              <a:r>
                <a:rPr lang="en-US" sz="500" b="1" err="1"/>
                <a:t>Hingga</a:t>
              </a:r>
              <a:r>
                <a:rPr lang="en-US" sz="500" b="1"/>
                <a:t> : 9 Feb 2025</a:t>
              </a:r>
              <a:endParaRPr lang="en-ID" sz="500" b="1"/>
            </a:p>
          </p:txBody>
        </p:sp>
      </p:grpSp>
    </p:spTree>
    <p:extLst>
      <p:ext uri="{BB962C8B-B14F-4D97-AF65-F5344CB8AC3E}">
        <p14:creationId xmlns:p14="http://schemas.microsoft.com/office/powerpoint/2010/main" val="514764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>
            <a:extLst>
              <a:ext uri="{FF2B5EF4-FFF2-40B4-BE49-F238E27FC236}">
                <a16:creationId xmlns:a16="http://schemas.microsoft.com/office/drawing/2014/main" id="{34F5E67E-7235-D525-0108-98FF79A450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500"/>
          <a:stretch/>
        </p:blipFill>
        <p:spPr bwMode="auto">
          <a:xfrm>
            <a:off x="388271" y="1317462"/>
            <a:ext cx="2318619" cy="427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2" name="Picture 2">
            <a:extLst>
              <a:ext uri="{FF2B5EF4-FFF2-40B4-BE49-F238E27FC236}">
                <a16:creationId xmlns:a16="http://schemas.microsoft.com/office/drawing/2014/main" id="{03AC1BCF-17C6-D062-54A8-D8183E0E90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271" y="2213810"/>
            <a:ext cx="2260544" cy="3826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029322"/>
              </p:ext>
            </p:extLst>
          </p:nvPr>
        </p:nvGraphicFramePr>
        <p:xfrm>
          <a:off x="3078080" y="981790"/>
          <a:ext cx="8816200" cy="5235067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Cricket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da-DK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Nyalakan semangat cricketmu!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8459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1" err="1"/>
                        <a:t>Deskripsi</a:t>
                      </a:r>
                      <a:r>
                        <a:rPr lang="en-ID" sz="1000" b="1"/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/>
                        <a:t>Halo, Sahabat SRC! Ayo pajang Cricket di etalase tokomu untuk berkesempatan mendapatkan 20 koin dan 200XP* dengan mengerjakan misi berikut!</a:t>
                      </a:r>
                    </a:p>
                    <a:p>
                      <a:r>
                        <a:rPr lang="en-ID" sz="1000"/>
                        <a:t>*Akan dilakukan verifikasi terlebih dahulu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Start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3 Februari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End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2 Maret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Reward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20 koin dan 200 XP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19864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 err="1"/>
                        <a:t>Instruksi</a:t>
                      </a:r>
                      <a:r>
                        <a:rPr lang="en-US" sz="1000" b="1"/>
                        <a:t> </a:t>
                      </a:r>
                      <a:r>
                        <a:rPr lang="en-US" sz="1000" b="1" err="1"/>
                        <a:t>Misi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Berapa stok Cricket yang ada di toko Sahabat?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1-5 pcs (Lanjut ke Pertanyaan #2)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6-10 pcs (Lanjut ke Pertanyaan #2)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Lebih dari 10 pcs (Lanjut ke Pertanyaan #2)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lphaLcPeriod"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Belum ada nih (Lanjut ke Pertanyaan #3)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oppins" panose="00000500000000000000" pitchFamily="2" charset="0"/>
                        <a:ea typeface="ＭＳ Ｐゴシック" pitchFamily="34" charset="-128"/>
                        <a:cs typeface="Poppins" panose="000005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2.  Ayo pajang stok Cricket di material </a:t>
                      </a:r>
                      <a:r>
                        <a:rPr lang="en-US" sz="10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promosi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 yang sudah disediakan! Pajang minimal 10 pcs Cricket ya.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     [Upload Photo]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oppins" panose="00000500000000000000" pitchFamily="2" charset="0"/>
                        <a:ea typeface="ＭＳ Ｐゴシック" pitchFamily="34" charset="-128"/>
                        <a:cs typeface="Poppins" panose="000005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oppins" panose="00000500000000000000" pitchFamily="2" charset="0"/>
                        <a:ea typeface="ＭＳ Ｐゴシック" pitchFamily="34" charset="-128"/>
                        <a:cs typeface="Poppins" panose="000005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oppins" panose="00000500000000000000" pitchFamily="2" charset="0"/>
                        <a:ea typeface="ＭＳ Ｐゴシック" pitchFamily="34" charset="-128"/>
                        <a:cs typeface="Poppins" panose="000005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Poppins" panose="00000500000000000000" pitchFamily="2" charset="0"/>
                        <a:ea typeface="ＭＳ Ｐゴシック" pitchFamily="34" charset="-128"/>
                        <a:cs typeface="Poppins" panose="00000500000000000000" pitchFamily="2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3. Yuk segera sediakan stok Cricket di tokomu dan ajak Paguyuban SRC-mu untuk mengikuti misi pajangan Cricket!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ＭＳ Ｐゴシック" pitchFamily="34" charset="-128"/>
                          <a:cs typeface="Poppins" panose="00000500000000000000" pitchFamily="2" charset="0"/>
                        </a:rPr>
                        <a:t>Ya, saya mengerti</a:t>
                      </a:r>
                      <a:endParaRPr lang="en-ID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934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/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0" i="0"/>
                        <a:t>Toko melakukan pemajangan cricket minimal 10 pcs</a:t>
                      </a:r>
                      <a:endParaRPr lang="en-ID" sz="1000" b="0" i="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  <p:pic>
        <p:nvPicPr>
          <p:cNvPr id="3" name="Picture 2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2969A953-9DB5-E488-81B0-FA95557D561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241976" y="1003562"/>
            <a:ext cx="2530545" cy="5326278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C276CEF-F736-008B-656D-A4F44375B9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9077" y="4548922"/>
            <a:ext cx="921034" cy="628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474972-D01C-D566-5C8A-780D1A1753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5670" y="4501645"/>
            <a:ext cx="663403" cy="722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618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/>
        </p:nvGraphicFramePr>
        <p:xfrm>
          <a:off x="3078080" y="972265"/>
          <a:ext cx="8816200" cy="4595894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4198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Cricket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4198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Pengganti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Partnership</a:t>
                      </a:r>
                      <a:endParaRPr lang="it-IT" sz="1100" b="1" i="0" u="none" strike="noStrike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4198">
                <a:tc>
                  <a:txBody>
                    <a:bodyPr/>
                    <a:lstStyle/>
                    <a:p>
                      <a:r>
                        <a:rPr lang="en-US" sz="1100" b="1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</a:t>
                      </a:r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1100" b="1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n-NO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Foto Cricket Bareng Pelanggan Toko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1136414">
                <a:tc>
                  <a:txBody>
                    <a:bodyPr/>
                    <a:lstStyle/>
                    <a:p>
                      <a:r>
                        <a:rPr lang="en-ID" sz="10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Deskripsi</a:t>
                      </a:r>
                      <a:r>
                        <a:rPr lang="en-ID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Hai Sahabat SRC!</a:t>
                      </a:r>
                    </a:p>
                    <a:p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Yuk, foto Cricket di toko-mu bersama dengan pelanggan toko dan dapatkan kesempatan reward 600 XP!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4307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Start Period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01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Februari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2025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4307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End Period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28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Februari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 2025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4307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Reward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600 XP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1284173">
                <a:tc>
                  <a:txBody>
                    <a:bodyPr/>
                    <a:lstStyle/>
                    <a:p>
                      <a:r>
                        <a:rPr lang="en-US" sz="10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Instruksi</a:t>
                      </a:r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10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  <a:tabLst/>
                      </a:pP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>
                        <a:buFont typeface="+mj-lt"/>
                        <a:buNone/>
                        <a:tabLst/>
                      </a:pP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Foto produk Cricket bersama dengan pelanggan tokomu dapatkan kesempatan reward 600 XP.</a:t>
                      </a:r>
                    </a:p>
                    <a:p>
                      <a:pPr marL="0" indent="0">
                        <a:buFont typeface="+mj-lt"/>
                        <a:buNone/>
                        <a:tabLst/>
                      </a:pP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>
                        <a:buFont typeface="+mj-lt"/>
                        <a:buNone/>
                        <a:tabLst/>
                      </a:pP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Syarat foto:</a:t>
                      </a:r>
                    </a:p>
                    <a:p>
                      <a:pPr marL="0" indent="0">
                        <a:buFont typeface="+mj-lt"/>
                        <a:buNone/>
                        <a:tabLst/>
                      </a:pP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 Minimal terdapat 1  pelanggan memegang produk Cricket pada foto</a:t>
                      </a:r>
                    </a:p>
                    <a:p>
                      <a:pPr marL="0" indent="0">
                        <a:buFont typeface="+mj-lt"/>
                        <a:buNone/>
                        <a:tabLst/>
                      </a:pP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 Produk yang dipegang oleh pelanggan hanya boleh produk Cricket </a:t>
                      </a:r>
                    </a:p>
                    <a:p>
                      <a:pPr marL="0" indent="0">
                        <a:buFont typeface="+mj-lt"/>
                        <a:buNone/>
                        <a:tabLst/>
                      </a:pP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 Pelanggan harus diatas umur 21 tahun</a:t>
                      </a:r>
                    </a:p>
                    <a:p>
                      <a:pPr marL="0" indent="0">
                        <a:buFont typeface="+mj-lt"/>
                        <a:buNone/>
                        <a:tabLst/>
                      </a:pPr>
                      <a:endParaRPr lang="en-ID" sz="1000" b="0" i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>
                        <a:buFont typeface="+mj-lt"/>
                        <a:buNone/>
                        <a:tabLst/>
                      </a:pPr>
                      <a:r>
                        <a:rPr lang="en-ID" sz="1000" b="0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Pastikan konsumen Anda bersedia untuk digunakan fotonya dalam misi ini</a:t>
                      </a:r>
                    </a:p>
                  </a:txBody>
                  <a:tcPr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Foto Produk Cricket bersama dengan pelanggan di toko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C757C1F-EB93-314C-69D3-FB0E99EF2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359" y="1006438"/>
            <a:ext cx="2330183" cy="5048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62E930A5-1148-0EC1-AB63-8B9BB78EE0F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263748" y="803221"/>
            <a:ext cx="2530545" cy="532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449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/>
        </p:nvGraphicFramePr>
        <p:xfrm>
          <a:off x="3078080" y="973746"/>
          <a:ext cx="8816200" cy="4456245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4198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Cricket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4198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Pengganti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Partnership</a:t>
                      </a:r>
                      <a:endParaRPr lang="it-IT" sz="1100" b="1" i="0" u="none" strike="noStrike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4198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s-ES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Kreasi </a:t>
                      </a:r>
                      <a:r>
                        <a:rPr lang="es-ES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Tali</a:t>
                      </a:r>
                      <a:r>
                        <a:rPr lang="es-ES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s-ES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Gantungan</a:t>
                      </a:r>
                      <a:r>
                        <a:rPr lang="es-ES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Cricket - #Misi 1 </a:t>
                      </a:r>
                      <a:endParaRPr lang="en-ID" sz="1100" b="1" i="0" u="none" strike="noStrike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R="0" marT="0" marB="0"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1136414">
                <a:tc>
                  <a:txBody>
                    <a:bodyPr/>
                    <a:lstStyle/>
                    <a:p>
                      <a:r>
                        <a:rPr lang="en-ID" sz="10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Deskripsi</a:t>
                      </a:r>
                      <a:r>
                        <a:rPr lang="en-ID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Hai Sahabat SRC!</a:t>
                      </a:r>
                    </a:p>
                    <a:p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Yuk, buat kreasi tali Gantungan Cricket di tokomu dan dapatkan 150 XP*!</a:t>
                      </a:r>
                    </a:p>
                    <a:p>
                      <a:endParaRPr lang="nn-NO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*Misi ini diberikan 2x dalam 1 bulan, jangan lupa untuk selalu mengerjakan misi ya sahabat!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4307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Start Period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1 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 01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Februari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2025 |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 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 15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Februari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 2025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4307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End Period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1 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14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Februari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2025 |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 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 28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Februari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 2025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4307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Reward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150 XP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1317628">
                <a:tc>
                  <a:txBody>
                    <a:bodyPr/>
                    <a:lstStyle/>
                    <a:p>
                      <a:r>
                        <a:rPr lang="en-US" sz="10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Instruksi</a:t>
                      </a:r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10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  <a:tabLst/>
                      </a:pP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Yuk buat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kreasi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tali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gantungan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Cricket di toko-mu dan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dapatkan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kesempatan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reward 150 XP.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Ikuti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langkah-langkah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berikut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: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  <a:tabLst/>
                      </a:pP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>
                        <a:buFont typeface="+mj-lt"/>
                        <a:buNone/>
                        <a:tabLst/>
                      </a:pP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Langkah 1: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Siapkan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bahan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untuk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membuat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kreasi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tali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gantungan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Cricket di toko.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Sahabat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juga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bisa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menggunakan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tali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gantungan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(lanyard)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seperti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pada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gambar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berikut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  <a:tabLst/>
                      </a:pPr>
                      <a:endParaRPr lang="sv-SE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Terdapat</a:t>
                      </a:r>
                      <a:r>
                        <a:rPr lang="en-ID" sz="1000" b="1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 </a:t>
                      </a: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tambahan</a:t>
                      </a:r>
                      <a:r>
                        <a:rPr lang="en-ID" sz="1000" b="1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pertanyaan</a:t>
                      </a:r>
                      <a:r>
                        <a:rPr lang="en-ID" sz="1000" b="1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panduan</a:t>
                      </a:r>
                      <a:r>
                        <a:rPr lang="en-ID" sz="1000" b="1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dalam</a:t>
                      </a:r>
                      <a:r>
                        <a:rPr lang="en-ID" sz="1000" b="1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mengerjakan</a:t>
                      </a:r>
                      <a:r>
                        <a:rPr lang="en-ID" sz="1000" b="1" i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1" i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endParaRPr lang="en-ID" sz="1000" b="1" i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9344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Menggantung Cricket menggunakan tali gantungan di toko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Terlihat Cricket yang digantung pada tali gantungan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738FF76-AC31-15FC-C06D-BCC05EC17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02" y="1200877"/>
            <a:ext cx="2284069" cy="4948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8D115B18-632C-114E-66B5-F714733BC56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297720" y="973746"/>
            <a:ext cx="2530545" cy="532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625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chat&#10;&#10;Description automatically generated">
            <a:extLst>
              <a:ext uri="{FF2B5EF4-FFF2-40B4-BE49-F238E27FC236}">
                <a16:creationId xmlns:a16="http://schemas.microsoft.com/office/drawing/2014/main" id="{B09BA069-71C8-47C7-60D1-BAAC786AA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14" y="1194783"/>
            <a:ext cx="2261937" cy="4900863"/>
          </a:xfrm>
          <a:prstGeom prst="rect">
            <a:avLst/>
          </a:prstGeom>
        </p:spPr>
      </p:pic>
      <p:pic>
        <p:nvPicPr>
          <p:cNvPr id="11" name="Picture 10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71EB4420-71AC-2D37-D8A1-593548672E6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241976" y="1003562"/>
            <a:ext cx="2530545" cy="532627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03089"/>
              </p:ext>
            </p:extLst>
          </p:nvPr>
        </p:nvGraphicFramePr>
        <p:xfrm>
          <a:off x="3078080" y="981790"/>
          <a:ext cx="8816200" cy="5113856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2B Private Label – Tier 1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 Belanja Produk ES.ER.CE di Mitra SRC lewat AYO Toko!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8459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1" err="1"/>
                        <a:t>Deskripsi</a:t>
                      </a:r>
                      <a:r>
                        <a:rPr lang="en-ID" sz="1000" b="1"/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/>
                        <a:t>Hai Sahabat SRC!</a:t>
                      </a:r>
                    </a:p>
                    <a:p>
                      <a:r>
                        <a:rPr lang="en-ID" sz="1000"/>
                        <a:t>Yuk, belanja produk ES.ER.CE di Mitra SRC lewat AYO Toko. Sahabat bisa berkesempatan mendapatkan hingga 700 XP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Start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10 Februari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End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9 Maret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Reward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700 XP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22562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 err="1"/>
                        <a:t>Instruksi</a:t>
                      </a:r>
                      <a:r>
                        <a:rPr lang="en-US" sz="1000" b="1"/>
                        <a:t> </a:t>
                      </a:r>
                      <a:r>
                        <a:rPr lang="en-US" sz="1000" b="1" err="1"/>
                        <a:t>Misi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Simak Mekanisme Misi Belanja Produk ES.ER.CE!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Sahabat belanja minimal 2 karton produk Air Mineral ES.ER.CE ukuran apapun lewat AYO Toko untuk mendapat 100 XP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Sahabat menambah pembelanjaan maksimal 8 karton untuk mendapat tambahan 400XP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Sahabat belanja Produk Tisu ES.ER.CE ukuran apapun min. 20 pcs untuk mendapat tambahan 200XP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934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/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0" i="0"/>
                        <a:t>Comply terhadap mekanisme utama B2B dan mekanisme tambahan misi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</p:spTree>
    <p:extLst>
      <p:ext uri="{BB962C8B-B14F-4D97-AF65-F5344CB8AC3E}">
        <p14:creationId xmlns:p14="http://schemas.microsoft.com/office/powerpoint/2010/main" val="1752522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phone&#10;&#10;Description automatically generated">
            <a:extLst>
              <a:ext uri="{FF2B5EF4-FFF2-40B4-BE49-F238E27FC236}">
                <a16:creationId xmlns:a16="http://schemas.microsoft.com/office/drawing/2014/main" id="{4CDD3A4A-AFD8-3B31-E766-7C6D69BCD5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397" y="1222408"/>
            <a:ext cx="2250975" cy="4877112"/>
          </a:xfrm>
          <a:prstGeom prst="rect">
            <a:avLst/>
          </a:prstGeom>
        </p:spPr>
      </p:pic>
      <p:pic>
        <p:nvPicPr>
          <p:cNvPr id="6" name="Picture 5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61DDDA57-EE9C-6D15-38CB-7A77F3B7C2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241976" y="1003562"/>
            <a:ext cx="2530545" cy="532627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086661"/>
              </p:ext>
            </p:extLst>
          </p:nvPr>
        </p:nvGraphicFramePr>
        <p:xfrm>
          <a:off x="3078080" y="981790"/>
          <a:ext cx="8816200" cy="4844093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2B Private Label – Tier 2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 Belanja Produk ES.ER.CE di Mitra SRC lewat AYO Toko!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8459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1" err="1"/>
                        <a:t>Deskripsi</a:t>
                      </a:r>
                      <a:r>
                        <a:rPr lang="en-ID" sz="1000" b="1"/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/>
                        <a:t>Hai Sahabat SRC!</a:t>
                      </a:r>
                    </a:p>
                    <a:p>
                      <a:r>
                        <a:rPr lang="en-ID" sz="1000"/>
                        <a:t>Yuk, belanja produk ES.ER.CE di Mitra SRC lewat AYO Toko. Sahabat bisa berkesempatan mendapatkan hingga 700 XP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Start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10 Februari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End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9 Maret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Reward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700 XP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19864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 err="1"/>
                        <a:t>Instruksi</a:t>
                      </a:r>
                      <a:r>
                        <a:rPr lang="en-US" sz="1000" b="1"/>
                        <a:t> </a:t>
                      </a:r>
                      <a:r>
                        <a:rPr lang="en-US" sz="1000" b="1" err="1"/>
                        <a:t>Misi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Simak Mekanisme Misi Belanja Produk ES.ER.CE!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Sahabat belanja minimal 15 karton produk Air Mineral ES.ER.CE ukuran apapun lewat AYO Toko untuk mendapat 200 XP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Sahabat menambah pembelanjaan berkelipatan 2, sejumlah maksimal 12 karton untuk mendapat tambahan 300XP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Sahabat belanja Produk Tisu ES.ER.CE ukuran apapun min. 20 pcs untuk mendapat tambahan 200XP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934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/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0" i="0"/>
                        <a:t>Comply terhadap mekanisme utama B2B dan mekanisme tambahan misi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</p:spTree>
    <p:extLst>
      <p:ext uri="{BB962C8B-B14F-4D97-AF65-F5344CB8AC3E}">
        <p14:creationId xmlns:p14="http://schemas.microsoft.com/office/powerpoint/2010/main" val="1046930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phone&#10;&#10;Description automatically generated">
            <a:extLst>
              <a:ext uri="{FF2B5EF4-FFF2-40B4-BE49-F238E27FC236}">
                <a16:creationId xmlns:a16="http://schemas.microsoft.com/office/drawing/2014/main" id="{AD0927FB-8608-47A8-4C58-A14269EEE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940" y="1234248"/>
            <a:ext cx="2246008" cy="4866350"/>
          </a:xfrm>
          <a:prstGeom prst="rect">
            <a:avLst/>
          </a:prstGeom>
        </p:spPr>
      </p:pic>
      <p:pic>
        <p:nvPicPr>
          <p:cNvPr id="6" name="Picture 5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7FEAFCBA-8B8D-1FD2-47EC-AC03F54D476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241976" y="1003562"/>
            <a:ext cx="2530545" cy="532627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868906"/>
              </p:ext>
            </p:extLst>
          </p:nvPr>
        </p:nvGraphicFramePr>
        <p:xfrm>
          <a:off x="3078080" y="981790"/>
          <a:ext cx="8816200" cy="4844093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2B Private Label – Tier 3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 Belanja Produk ES.ER.CE di Mitra SRC lewat AYO Toko!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8459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1" err="1"/>
                        <a:t>Deskripsi</a:t>
                      </a:r>
                      <a:r>
                        <a:rPr lang="en-ID" sz="1000" b="1"/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/>
                        <a:t>Hai Sahabat SRC!</a:t>
                      </a:r>
                    </a:p>
                    <a:p>
                      <a:r>
                        <a:rPr lang="en-ID" sz="1000"/>
                        <a:t>Yuk, belanja produk ES.ER.CE di Mitra SRC lewat AYO Toko. Sahabat bisa berkesempatan mendapatkan hingga 700 XP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Start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10 Februari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End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9 Maret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Reward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700 XP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19864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 err="1"/>
                        <a:t>Instruksi</a:t>
                      </a:r>
                      <a:r>
                        <a:rPr lang="en-US" sz="1000" b="1"/>
                        <a:t> </a:t>
                      </a:r>
                      <a:r>
                        <a:rPr lang="en-US" sz="1000" b="1" err="1"/>
                        <a:t>Misi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Simak Mekanisme Misi Belanja Produk ES.ER.CE!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Sahabat belanja minimal 35 karton produk Air Mineral ES.ER.CE ukuran apapun lewat AYO Toko untuk mendapat 300 XP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Sahabat menambah pembelanjaan berkelipatan 5 karton, sejumlah maksimal 20 karton untuk mendapat tambahan 200XP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Sahabat belanja Produk Tisu ES.ER.CE ukuran apapun min. 20 pcs untuk mendapat tambahan 200XP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934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/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0" i="0"/>
                        <a:t>Comply terhadap mekanisme utama B2B dan mekanisme tambahan misi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</p:spTree>
    <p:extLst>
      <p:ext uri="{BB962C8B-B14F-4D97-AF65-F5344CB8AC3E}">
        <p14:creationId xmlns:p14="http://schemas.microsoft.com/office/powerpoint/2010/main" val="844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E4B0B385-70C2-C7CD-913B-2785B6068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60" y="1192871"/>
            <a:ext cx="2228011" cy="482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356158"/>
              </p:ext>
            </p:extLst>
          </p:nvPr>
        </p:nvGraphicFramePr>
        <p:xfrm>
          <a:off x="3078080" y="981790"/>
          <a:ext cx="8816200" cy="4844093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2B Private Label – Tier 4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100" b="1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ID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b="1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Belanja</a:t>
                      </a:r>
                      <a:r>
                        <a:rPr lang="en-ID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b="1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Produk</a:t>
                      </a:r>
                      <a:r>
                        <a:rPr lang="en-ID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ES.ER.CE di Mitra SRC </a:t>
                      </a:r>
                      <a:r>
                        <a:rPr lang="en-ID" sz="1100" b="1" err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lewat</a:t>
                      </a:r>
                      <a:r>
                        <a:rPr lang="en-ID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AYO Toko!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8459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1" err="1"/>
                        <a:t>Deskripsi</a:t>
                      </a:r>
                      <a:r>
                        <a:rPr lang="en-ID" sz="1000" b="1"/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/>
                        <a:t>Hai </a:t>
                      </a:r>
                      <a:r>
                        <a:rPr lang="en-ID" sz="1000" err="1"/>
                        <a:t>Sahabat</a:t>
                      </a:r>
                      <a:r>
                        <a:rPr lang="en-ID" sz="1000"/>
                        <a:t> SRC!</a:t>
                      </a:r>
                    </a:p>
                    <a:p>
                      <a:r>
                        <a:rPr lang="en-ID" sz="1000"/>
                        <a:t>Yuk, </a:t>
                      </a:r>
                      <a:r>
                        <a:rPr lang="en-ID" sz="1000" err="1"/>
                        <a:t>belanja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produk</a:t>
                      </a:r>
                      <a:r>
                        <a:rPr lang="en-ID" sz="1000"/>
                        <a:t> ES.ER.CE di Mitra SRC </a:t>
                      </a:r>
                      <a:r>
                        <a:rPr lang="en-ID" sz="1000" err="1"/>
                        <a:t>lewat</a:t>
                      </a:r>
                      <a:r>
                        <a:rPr lang="en-ID" sz="1000"/>
                        <a:t> AYO Toko. </a:t>
                      </a:r>
                      <a:r>
                        <a:rPr lang="en-ID" sz="1000" err="1"/>
                        <a:t>Sahabat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bisa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berkesempatan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mendapatkan</a:t>
                      </a:r>
                      <a:r>
                        <a:rPr lang="en-ID" sz="1000"/>
                        <a:t> </a:t>
                      </a:r>
                      <a:r>
                        <a:rPr lang="en-ID" sz="1000" err="1"/>
                        <a:t>hingga</a:t>
                      </a:r>
                      <a:r>
                        <a:rPr lang="en-ID" sz="1000"/>
                        <a:t> 700 XP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Start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10 </a:t>
                      </a:r>
                      <a:r>
                        <a:rPr lang="en-US" sz="1000" err="1"/>
                        <a:t>Februari</a:t>
                      </a:r>
                      <a:r>
                        <a:rPr lang="en-US" sz="1000"/>
                        <a:t>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End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9 </a:t>
                      </a:r>
                      <a:r>
                        <a:rPr lang="en-US" sz="1000" err="1"/>
                        <a:t>Maret</a:t>
                      </a:r>
                      <a:r>
                        <a:rPr lang="en-US" sz="1000"/>
                        <a:t>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Reward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700 XP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19864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 err="1"/>
                        <a:t>Instruksi</a:t>
                      </a:r>
                      <a:r>
                        <a:rPr lang="en-US" sz="1000" b="1"/>
                        <a:t> </a:t>
                      </a:r>
                      <a:r>
                        <a:rPr lang="en-US" sz="1000" b="1" err="1"/>
                        <a:t>Misi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Simak Mekanisme Misi Belanja Produk ES.ER.CE!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1. Sahabat belanja minimal 120 karton produk Air Mineral ES.ER.CE ukuran apapun lewat AYO Toko untuk mendapat 500 XP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2. Sahabat belanja Produk Tisu ES.ER.CE ukuran apapun min. 20 pcs untuk mendapat tambahan 200XP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934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/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0" i="0"/>
                        <a:t>Comply </a:t>
                      </a:r>
                      <a:r>
                        <a:rPr lang="en-ID" sz="1000" b="0" i="0" err="1"/>
                        <a:t>terhadap</a:t>
                      </a:r>
                      <a:r>
                        <a:rPr lang="en-ID" sz="1000" b="0" i="0"/>
                        <a:t> </a:t>
                      </a:r>
                      <a:r>
                        <a:rPr lang="en-ID" sz="1000" b="0" i="0" err="1"/>
                        <a:t>mekanisme</a:t>
                      </a:r>
                      <a:r>
                        <a:rPr lang="en-ID" sz="1000" b="0" i="0"/>
                        <a:t> </a:t>
                      </a:r>
                      <a:r>
                        <a:rPr lang="en-ID" sz="1000" b="0" i="0" err="1"/>
                        <a:t>utama</a:t>
                      </a:r>
                      <a:r>
                        <a:rPr lang="en-ID" sz="1000" b="0" i="0"/>
                        <a:t> B2B dan </a:t>
                      </a:r>
                      <a:r>
                        <a:rPr lang="en-ID" sz="1000" b="0" i="0" err="1"/>
                        <a:t>mekanisme</a:t>
                      </a:r>
                      <a:r>
                        <a:rPr lang="en-ID" sz="1000" b="0" i="0"/>
                        <a:t> </a:t>
                      </a:r>
                      <a:r>
                        <a:rPr lang="en-ID" sz="1000" b="0" i="0" err="1"/>
                        <a:t>tambahan</a:t>
                      </a:r>
                      <a:r>
                        <a:rPr lang="en-ID" sz="1000" b="0" i="0"/>
                        <a:t> </a:t>
                      </a:r>
                      <a:r>
                        <a:rPr lang="en-ID" sz="1000" b="0" i="0" err="1"/>
                        <a:t>misi</a:t>
                      </a:r>
                      <a:endParaRPr lang="en-ID" sz="1000" b="0" i="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  <p:pic>
        <p:nvPicPr>
          <p:cNvPr id="3" name="Picture 2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F0D8F495-B1F9-966C-2E42-A1F986F2859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241976" y="1003562"/>
            <a:ext cx="2530545" cy="532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877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>
            <a:extLst>
              <a:ext uri="{FF2B5EF4-FFF2-40B4-BE49-F238E27FC236}">
                <a16:creationId xmlns:a16="http://schemas.microsoft.com/office/drawing/2014/main" id="{E7BDCD5F-B1DC-C993-7FD9-86B6AF157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70" y="1176559"/>
            <a:ext cx="2252356" cy="4879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292896"/>
              </p:ext>
            </p:extLst>
          </p:nvPr>
        </p:nvGraphicFramePr>
        <p:xfrm>
          <a:off x="3078080" y="981790"/>
          <a:ext cx="8816200" cy="4844093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 Private Label</a:t>
                      </a:r>
                      <a:endParaRPr lang="en-ID" sz="1100" b="1" i="0" u="none" strike="noStrike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 Pemajangan Air ES.ER.CE 12 Pcs di Rak/Gondola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8459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1" err="1"/>
                        <a:t>Deskripsi</a:t>
                      </a:r>
                      <a:r>
                        <a:rPr lang="en-ID" sz="1000" b="1"/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/>
                        <a:t>Hai Sahabat SRC!</a:t>
                      </a:r>
                    </a:p>
                    <a:p>
                      <a:r>
                        <a:rPr lang="en-ID" sz="1000"/>
                        <a:t>Yuk, pajang air mineral ES.ER.CE 600ml / 1500ml minimal 12 pcs di baris pertama rak atau gondola. Sahabat bisa berkesempatan mendapatkan 200 XP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Start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3 Februari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End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2 Maret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Reward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200 XP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19864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 err="1"/>
                        <a:t>Instruksi</a:t>
                      </a:r>
                      <a:r>
                        <a:rPr lang="en-US" sz="1000" b="1"/>
                        <a:t> </a:t>
                      </a:r>
                      <a:r>
                        <a:rPr lang="en-US" sz="1000" b="1" err="1"/>
                        <a:t>Misi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Yuk pajang air mineral ES.ER.CE 600ml/1500ml di baris pertama rak atau gondola toko mu.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Syarat pemajangan 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1. Produk berupa air mineral ES.ER.CE 600ml/1500ml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2. Minimal pemajangan adalah 12 pcs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3. Produk dipajang di baris pertama rak / gondola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4. Foto yang dikirim harus tampak jelas (tidak blur) dan tidak terhalang produk lainnya.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5. Tidak ada produk lain pada pajangan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ID" sz="10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Fotolah pajangan anda dan pastikan pajangan sesuai dengan mekanisme.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934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/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0" i="0"/>
                        <a:t>SKU yang dipajang adalah air ES.ER.CE 600ml / 1500ml sebanyak minimal 12 pcs di baris pertama rak atau gondola 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  <p:pic>
        <p:nvPicPr>
          <p:cNvPr id="3" name="Picture 2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F360D25A-291E-D39B-6F7B-B21EE35A638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241976" y="1003562"/>
            <a:ext cx="2530545" cy="532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79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355544"/>
              </p:ext>
            </p:extLst>
          </p:nvPr>
        </p:nvGraphicFramePr>
        <p:xfrm>
          <a:off x="3078080" y="981790"/>
          <a:ext cx="8816200" cy="4844093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PVP Private Label</a:t>
                      </a:r>
                      <a:endParaRPr lang="en-ID" sz="1100" b="1" i="0" u="none" strike="noStrike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 pemajangan air ES.ER.CE 6 pcs di chiller!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8459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1" err="1"/>
                        <a:t>Deskripsi</a:t>
                      </a:r>
                      <a:r>
                        <a:rPr lang="en-ID" sz="1000" b="1"/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/>
                        <a:t>Hai Sahabat SRC!</a:t>
                      </a:r>
                    </a:p>
                    <a:p>
                      <a:r>
                        <a:rPr lang="en-ID" sz="1000"/>
                        <a:t>Yuk, pajang air mineral ES.ER.CE 600ml minimal 6 pcs di baris pertama chiller. Sahabat bisa berkesempatan mendapatkan 200 XP!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Start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3 Februari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End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2 Maret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Reward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200 XP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19864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 err="1"/>
                        <a:t>Instruksi</a:t>
                      </a:r>
                      <a:r>
                        <a:rPr lang="en-US" sz="1000" b="1"/>
                        <a:t> </a:t>
                      </a:r>
                      <a:r>
                        <a:rPr lang="en-US" sz="1000" b="1" err="1"/>
                        <a:t>Misi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Yuk pajang air mineral ES.ER.CE 600ml di baris pertama chiller toko mu. 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Syarat pemajangan :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1. Produk berupa air mineral ES.ER.CE 600ml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2. Minimal pemajangan adalah 6 pcs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3. Produk dipajang di baris pertama chiller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3. Foto yang dikirim harus tampak jelas (tidak blur) dan tidak terhalang produk lainnya.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4. Tidak ada produk lain pada pajangan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ID" sz="10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Fotolah pajangan anda dan pastikan pajangan sesuai dengan mekanisme.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934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/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0" i="0"/>
                        <a:t>SKU yang dipajang adalah air ES.ER.CE 600ml sebanyak minimal 6 pcs di baris pertama chiller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3D433B9A-7569-5640-3D92-662A176F0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294" y="1308936"/>
            <a:ext cx="2235908" cy="4844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3B499E67-8CB3-92A2-30AE-23F55F12905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220710" y="1003562"/>
            <a:ext cx="2530545" cy="532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394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phone&#10;&#10;Description automatically generated">
            <a:extLst>
              <a:ext uri="{FF2B5EF4-FFF2-40B4-BE49-F238E27FC236}">
                <a16:creationId xmlns:a16="http://schemas.microsoft.com/office/drawing/2014/main" id="{A7C46600-4E71-983E-CBB8-8680D041A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923" y="1310713"/>
            <a:ext cx="2228650" cy="4828740"/>
          </a:xfrm>
          <a:prstGeom prst="rect">
            <a:avLst/>
          </a:prstGeom>
        </p:spPr>
      </p:pic>
      <p:pic>
        <p:nvPicPr>
          <p:cNvPr id="3" name="Picture 2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F360D25A-291E-D39B-6F7B-B21EE35A638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241976" y="1003562"/>
            <a:ext cx="2530545" cy="532627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258812"/>
              </p:ext>
            </p:extLst>
          </p:nvPr>
        </p:nvGraphicFramePr>
        <p:xfrm>
          <a:off x="3078080" y="981790"/>
          <a:ext cx="8816200" cy="4844093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 Pengganti Private Label</a:t>
                      </a:r>
                      <a:endParaRPr lang="en-ID" sz="1100" b="1" i="0" u="none" strike="noStrike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419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 pemajangan air ES.ER.CE di meja kasir!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84594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1" err="1"/>
                        <a:t>Deskripsi</a:t>
                      </a:r>
                      <a:r>
                        <a:rPr lang="en-ID" sz="1000" b="1"/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/>
                        <a:t>Hai Sahabat SRC!</a:t>
                      </a:r>
                    </a:p>
                    <a:p>
                      <a:r>
                        <a:rPr lang="en-ID" sz="1000"/>
                        <a:t>Yuk, pajang air mineral ES.ER.CE 600ml/1500ml minimal 4 pcs di meja kasir. Sahabat bisa berkesempatan mendapatkan 200 XP!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Start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3 Februari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End Period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2 Maret 2025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430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/>
                        <a:t>Reward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/>
                        <a:t>200 XP</a:t>
                      </a:r>
                      <a:endParaRPr lang="en-ID" sz="1000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19864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000" b="1" err="1"/>
                        <a:t>Instruksi</a:t>
                      </a:r>
                      <a:r>
                        <a:rPr lang="en-US" sz="1000" b="1"/>
                        <a:t> </a:t>
                      </a:r>
                      <a:r>
                        <a:rPr lang="en-US" sz="1000" b="1" err="1"/>
                        <a:t>Misi</a:t>
                      </a:r>
                      <a:endParaRPr lang="en-ID" sz="1000" b="1"/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Yuk pajang air mineral ES.ER.CE 600ml/1500ml di meja kasir toko mu.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Syarat pemajangan 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1. Produk berupa air mineral ES.ER.CE 600ml/1500ml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2. Minimal pemajangan adalah 4 pcs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3. Produk dipajang di meja kasir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3. Foto yang dikirim harus tampak jelas (tidak blur) dan tidak terhalang produk lainnya.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4. Tidak ada produk lain pada pajangan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D" sz="1000" b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0">
                          <a:solidFill>
                            <a:schemeClr val="tx1"/>
                          </a:solidFill>
                        </a:rPr>
                        <a:t>Fotolah pajangan anda dan pastikan pajangan sesuai dengan mekanisme.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9344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US" sz="1100" b="1"/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+mn-cs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Poppins"/>
                        </a:defRPr>
                      </a:lvl9pPr>
                    </a:lstStyle>
                    <a:p>
                      <a:r>
                        <a:rPr lang="en-ID" sz="1000" b="0" i="0"/>
                        <a:t>SKU yang dipajang adalah air ES.ER.CE 600ml / 1500ml sebanyak minimal 4 pcs di meja kasir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</p:spTree>
    <p:extLst>
      <p:ext uri="{BB962C8B-B14F-4D97-AF65-F5344CB8AC3E}">
        <p14:creationId xmlns:p14="http://schemas.microsoft.com/office/powerpoint/2010/main" val="13034347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AB723A85-CD70-B45D-FEB9-2FFBEAB341B1}"/>
              </a:ext>
            </a:extLst>
          </p:cNvPr>
          <p:cNvGraphicFramePr>
            <a:graphicFrameLocks noGrp="1"/>
          </p:cNvGraphicFramePr>
          <p:nvPr/>
        </p:nvGraphicFramePr>
        <p:xfrm>
          <a:off x="3078080" y="972265"/>
          <a:ext cx="8816200" cy="4935187"/>
        </p:xfrm>
        <a:graphic>
          <a:graphicData uri="http://schemas.openxmlformats.org/drawingml/2006/table">
            <a:tbl>
              <a:tblPr firstRow="1" bandRow="1"/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54198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54198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Pengganti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Partnership</a:t>
                      </a:r>
                      <a:endParaRPr lang="it-IT" sz="1100" b="1" i="0" u="none" strike="noStrike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54198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pajang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air ES.ER.CE </a:t>
                      </a:r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lengkap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dengan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label </a:t>
                      </a:r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harga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produk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!</a:t>
                      </a:r>
                    </a:p>
                  </a:txBody>
                  <a:tcPr marR="0" marT="0" marB="0"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1136414">
                <a:tc>
                  <a:txBody>
                    <a:bodyPr/>
                    <a:lstStyle/>
                    <a:p>
                      <a:r>
                        <a:rPr lang="en-ID" sz="10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Deskripsi</a:t>
                      </a:r>
                      <a:r>
                        <a:rPr lang="en-ID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 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Hai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Sahabat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SRC!</a:t>
                      </a:r>
                    </a:p>
                    <a:p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Yuk,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pajang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air mineral ES.ER.CE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ukuran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apapun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dengan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label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harga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Sahabat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bisa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berkesempatan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mendapatkan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150 XP!</a:t>
                      </a: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4307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Start Period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1 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 01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Februari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2025 |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 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 15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Februari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 2025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4307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End Period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1 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14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Februari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2025 |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 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 28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Februari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  <a:sym typeface="Wingdings" panose="05000000000000000000" pitchFamily="2" charset="2"/>
                        </a:rPr>
                        <a:t> 2025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4307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Reward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150 XP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1284173">
                <a:tc>
                  <a:txBody>
                    <a:bodyPr/>
                    <a:lstStyle/>
                    <a:p>
                      <a:r>
                        <a:rPr lang="en-US" sz="10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Instruksi</a:t>
                      </a:r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10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Font typeface="+mj-lt"/>
                        <a:buAutoNum type="arabicPeriod"/>
                        <a:tabLst/>
                      </a:pP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>
                        <a:buFont typeface="+mj-lt"/>
                        <a:buNone/>
                        <a:tabLst/>
                      </a:pP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 Yuk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pajang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air mineral ES.ER.CE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ukuran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apapun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lengkap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dengan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label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harga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produknya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</a:p>
                    <a:p>
                      <a:pPr marL="0" indent="0">
                        <a:buFont typeface="+mj-lt"/>
                        <a:buNone/>
                        <a:tabLst/>
                      </a:pPr>
                      <a:r>
                        <a:rPr lang="en-ID" sz="1000" b="0" i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 </a:t>
                      </a:r>
                      <a:r>
                        <a:rPr lang="en-ID" sz="1000" b="0" i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Fotolah</a:t>
                      </a:r>
                      <a:r>
                        <a:rPr lang="en-ID" sz="1000" b="0" i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0" i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pajangan</a:t>
                      </a:r>
                      <a:r>
                        <a:rPr lang="en-ID" sz="1000" b="0" i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0" i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anda</a:t>
                      </a:r>
                      <a:r>
                        <a:rPr lang="en-ID" sz="1000" b="0" i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dan </a:t>
                      </a:r>
                      <a:r>
                        <a:rPr lang="en-ID" sz="1000" b="0" i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pastikan</a:t>
                      </a:r>
                      <a:r>
                        <a:rPr lang="en-ID" sz="1000" b="0" i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0" i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pajangan</a:t>
                      </a:r>
                      <a:r>
                        <a:rPr lang="en-ID" sz="1000" b="0" i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0" i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sesuai</a:t>
                      </a:r>
                      <a:r>
                        <a:rPr lang="en-ID" sz="1000" b="0" i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0" i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dengan</a:t>
                      </a:r>
                      <a:r>
                        <a:rPr lang="en-ID" sz="1000" b="0" i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b="0" i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mekanisme</a:t>
                      </a:r>
                      <a:r>
                        <a:rPr lang="en-ID" sz="1000" b="0" i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49344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Syarat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di Aplikasi AYO Toko)</a:t>
                      </a:r>
                      <a:endParaRPr lang="en-US" sz="800" b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  <a:tabLst/>
                      </a:pP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Syarat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pemajangan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: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  <a:tabLst/>
                      </a:pP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berupa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air mineral ES.ER.CE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ukuran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apapun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  <a:tabLst/>
                      </a:pP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dipajang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lengkap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dengan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label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harga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yang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sesuai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dengan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harga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yang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direkomendasikan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228600" indent="-228600">
                        <a:buFont typeface="+mj-lt"/>
                        <a:buAutoNum type="arabicPeriod"/>
                        <a:tabLst/>
                      </a:pP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Foto yang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dikirim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harus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tampak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jelas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(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tidak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blur) dan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tidak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terhalang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lainnya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  <a:tabLst/>
                      </a:pP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Tidak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ada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lain pada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pajangan</a:t>
                      </a:r>
                      <a:endParaRPr lang="en-ID" sz="1000" b="0" i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endParaRPr lang="nn-NO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BEC298B-3AB8-8A10-B63B-0CE3D2584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686" y="1106737"/>
            <a:ext cx="2221454" cy="4812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85667D1C-7F02-7528-7AD8-7D902D06F92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331254" y="809377"/>
            <a:ext cx="2530545" cy="532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5561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hat&#10;&#10;Description automatically generated">
            <a:extLst>
              <a:ext uri="{FF2B5EF4-FFF2-40B4-BE49-F238E27FC236}">
                <a16:creationId xmlns:a16="http://schemas.microsoft.com/office/drawing/2014/main" id="{70157243-78BD-E6FB-D77E-94C6A7E8CF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61" y="1490554"/>
            <a:ext cx="2141113" cy="4639077"/>
          </a:xfrm>
          <a:prstGeom prst="rect">
            <a:avLst/>
          </a:prstGeom>
        </p:spPr>
      </p:pic>
      <p:pic>
        <p:nvPicPr>
          <p:cNvPr id="5" name="Picture 4" descr="A black cell phone&#10;&#10;Description automatically generated with low confidence">
            <a:extLst>
              <a:ext uri="{FF2B5EF4-FFF2-40B4-BE49-F238E27FC236}">
                <a16:creationId xmlns:a16="http://schemas.microsoft.com/office/drawing/2014/main" id="{4E3ED066-E7B8-ABE0-6BF8-3A05B639B64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26" t="2555" r="28043" b="1739"/>
          <a:stretch/>
        </p:blipFill>
        <p:spPr>
          <a:xfrm>
            <a:off x="406142" y="1230086"/>
            <a:ext cx="2451552" cy="516001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3F94D6-4EB3-A5D2-9D55-FE476268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DE270B84-3A4C-2D1D-42A5-729A76EB9FD3}"/>
              </a:ext>
            </a:extLst>
          </p:cNvPr>
          <p:cNvSpPr txBox="1">
            <a:spLocks/>
          </p:cNvSpPr>
          <p:nvPr/>
        </p:nvSpPr>
        <p:spPr>
          <a:xfrm>
            <a:off x="241976" y="107781"/>
            <a:ext cx="10694804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Poppins"/>
                <a:ea typeface="+mj-ea"/>
                <a:cs typeface="+mj-cs"/>
              </a:rPr>
              <a:t>DTE Initiative - Mechanics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95F9B8FA-E121-19A0-B3E8-6A84B9FED771}"/>
              </a:ext>
            </a:extLst>
          </p:cNvPr>
          <p:cNvGraphicFramePr>
            <a:graphicFrameLocks noGrp="1"/>
          </p:cNvGraphicFramePr>
          <p:nvPr/>
        </p:nvGraphicFramePr>
        <p:xfrm>
          <a:off x="3086322" y="980271"/>
          <a:ext cx="8816200" cy="5356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537">
                  <a:extLst>
                    <a:ext uri="{9D8B030D-6E8A-4147-A177-3AD203B41FA5}">
                      <a16:colId xmlns:a16="http://schemas.microsoft.com/office/drawing/2014/main" val="2098048881"/>
                    </a:ext>
                  </a:extLst>
                </a:gridCol>
                <a:gridCol w="7480663">
                  <a:extLst>
                    <a:ext uri="{9D8B030D-6E8A-4147-A177-3AD203B41FA5}">
                      <a16:colId xmlns:a16="http://schemas.microsoft.com/office/drawing/2014/main" val="2487629996"/>
                    </a:ext>
                  </a:extLst>
                </a:gridCol>
              </a:tblGrid>
              <a:tr h="269463">
                <a:tc>
                  <a:txBody>
                    <a:bodyPr/>
                    <a:lstStyle/>
                    <a:p>
                      <a:r>
                        <a:rPr lang="en-US" sz="11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Category</a:t>
                      </a:r>
                      <a:endParaRPr lang="en-ID" sz="11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Private Label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7585900"/>
                  </a:ext>
                </a:extLst>
              </a:tr>
              <a:tr h="26946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DTE Initiative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100" b="1" i="0" u="none" strike="noStrike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Pengganti</a:t>
                      </a:r>
                      <a:r>
                        <a:rPr lang="en-ID" sz="1100" b="1" i="0" u="none" strike="noStrike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Partnership</a:t>
                      </a:r>
                      <a:endParaRPr lang="it-IT" sz="1100" b="1" i="0" u="none" strike="noStrike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470090"/>
                  </a:ext>
                </a:extLst>
              </a:tr>
              <a:tr h="26946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Judul Misi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100" b="1">
                          <a:solidFill>
                            <a:schemeClr val="bg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 Paket Promo Produk Air dan Tisu ES.ER.CE </a:t>
                      </a:r>
                      <a:endParaRPr lang="en-ID" sz="1100" b="1">
                        <a:solidFill>
                          <a:schemeClr val="bg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A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4122506"/>
                  </a:ext>
                </a:extLst>
              </a:tr>
              <a:tr h="1287435">
                <a:tc>
                  <a:txBody>
                    <a:bodyPr/>
                    <a:lstStyle/>
                    <a:p>
                      <a:r>
                        <a:rPr lang="en-ID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Deskripsi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Hai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Sahabat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SRC!</a:t>
                      </a:r>
                    </a:p>
                    <a:p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Yuk, buat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paket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promo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air dan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tisu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ES.ER.CE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ukuran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apapun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Sahabat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bisa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berkesempatan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mendapatkan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200 XP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097593"/>
                  </a:ext>
                </a:extLst>
              </a:tr>
              <a:tr h="26946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Start Period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01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Februari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2025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128637"/>
                  </a:ext>
                </a:extLst>
              </a:tr>
              <a:tr h="26946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End Period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23 </a:t>
                      </a:r>
                      <a:r>
                        <a:rPr lang="en-US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Februari</a:t>
                      </a:r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2025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290227"/>
                  </a:ext>
                </a:extLst>
              </a:tr>
              <a:tr h="269463">
                <a:tc>
                  <a:txBody>
                    <a:bodyPr/>
                    <a:lstStyle/>
                    <a:p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Reward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200 XP</a:t>
                      </a: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135722"/>
                  </a:ext>
                </a:extLst>
              </a:tr>
              <a:tr h="1597761">
                <a:tc>
                  <a:txBody>
                    <a:bodyPr/>
                    <a:lstStyle/>
                    <a:p>
                      <a:r>
                        <a:rPr lang="en-US" sz="10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Instruksi</a:t>
                      </a:r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US" sz="10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Misi</a:t>
                      </a:r>
                      <a:endParaRPr lang="en-ID" sz="1000" b="1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 Buat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paket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promo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air dan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tisu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ES.ER.CE mu. </a:t>
                      </a:r>
                    </a:p>
                    <a:p>
                      <a:pPr marL="0" indent="0">
                        <a:buNone/>
                      </a:pP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 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Syarat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: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Mengandung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air dan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tisu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ES.ER.CE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ukuran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apapun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.</a:t>
                      </a:r>
                    </a:p>
                    <a:p>
                      <a:pPr marL="228600" indent="-228600">
                        <a:buAutoNum type="arabicPeriod"/>
                      </a:pPr>
                      <a:endParaRPr lang="en-ID" sz="10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 Yuk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domumentasikan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paket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promo </a:t>
                      </a:r>
                      <a:r>
                        <a:rPr lang="en-ID" sz="10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produk</a:t>
                      </a:r>
                      <a:r>
                        <a:rPr lang="en-ID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air ES.ER.CE 600ml mu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37019"/>
                  </a:ext>
                </a:extLst>
              </a:tr>
              <a:tr h="854239">
                <a:tc>
                  <a:txBody>
                    <a:bodyPr/>
                    <a:lstStyle/>
                    <a:p>
                      <a:r>
                        <a:rPr lang="en-US" sz="1000" b="1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Syarat</a:t>
                      </a:r>
                      <a:r>
                        <a:rPr lang="en-US" sz="1000" b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 Comply</a:t>
                      </a:r>
                    </a:p>
                    <a:p>
                      <a:r>
                        <a:rPr lang="en-US" sz="800" b="0">
                          <a:solidFill>
                            <a:schemeClr val="tx1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(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Tidak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muncul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di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Aplikasi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 AYO </a:t>
                      </a:r>
                      <a:r>
                        <a:rPr kumimoji="0" lang="en-US" sz="80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Toko</a:t>
                      </a:r>
                      <a:r>
                        <a:rPr kumimoji="0" lang="en-US" sz="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Poppins" panose="00000500000000000000" pitchFamily="2" charset="0"/>
                          <a:ea typeface="+mn-ea"/>
                          <a:cs typeface="Poppins" panose="00000500000000000000" pitchFamily="2" charset="0"/>
                        </a:rPr>
                        <a:t>)</a:t>
                      </a:r>
                      <a:endParaRPr lang="en-US" sz="800" b="0">
                        <a:solidFill>
                          <a:schemeClr val="tx1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Syarat :</a:t>
                      </a:r>
                    </a:p>
                    <a:p>
                      <a:pPr marL="0" indent="0">
                        <a:buNone/>
                      </a:pPr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1. Wajib mengandung produk air dan tisu ES.ER.CE </a:t>
                      </a:r>
                    </a:p>
                    <a:p>
                      <a:pPr marL="0" indent="0">
                        <a:buNone/>
                      </a:pPr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2. Diletakkan di tempat yang terlihat konsumen.</a:t>
                      </a:r>
                    </a:p>
                    <a:p>
                      <a:pPr marL="0" indent="0">
                        <a:buNone/>
                      </a:pPr>
                      <a:r>
                        <a:rPr lang="nn-NO" sz="10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3. Foto yang dikirim harus tampak jelas (tidak blur) dan tidak terhalang produk lainnya.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764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5081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C3A54-8231-6961-DFDC-38B53C700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834" y="122338"/>
            <a:ext cx="10175630" cy="511062"/>
          </a:xfrm>
        </p:spPr>
        <p:txBody>
          <a:bodyPr/>
          <a:lstStyle/>
          <a:p>
            <a:r>
              <a:rPr lang="en-US"/>
              <a:t>PIC Digital Trade Engagement</a:t>
            </a:r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EE2018-F056-7387-0BEA-694B40BBE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 for internal use only. This document in not intended for advertising purpose</a:t>
            </a:r>
            <a:endParaRPr kumimoji="0" lang="en-ID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5B9AAE-4067-6BA5-C27E-F2951CCEF4E3}"/>
              </a:ext>
            </a:extLst>
          </p:cNvPr>
          <p:cNvSpPr txBox="1"/>
          <p:nvPr/>
        </p:nvSpPr>
        <p:spPr>
          <a:xfrm>
            <a:off x="3591186" y="2242348"/>
            <a:ext cx="3244472" cy="505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299085" algn="l"/>
                <a:tab pos="299720" algn="l"/>
              </a:tabLst>
              <a:defRPr/>
            </a:pPr>
            <a:r>
              <a:rPr kumimoji="0" lang="en-US" sz="1400" b="1" i="0" u="none" strike="noStrike" kern="1200" cap="none" spc="-5" normalizeH="0" baseline="0" noProof="0">
                <a:ln>
                  <a:noFill/>
                </a:ln>
                <a:solidFill>
                  <a:srgbClr val="013A6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Hanif Rusdiono</a:t>
            </a:r>
          </a:p>
          <a:p>
            <a:pPr marL="12065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299085" algn="l"/>
                <a:tab pos="299720" algn="l"/>
              </a:tabLst>
              <a:defRPr/>
            </a:pPr>
            <a:r>
              <a:rPr kumimoji="0" lang="en-US" sz="1200" b="0" i="0" u="none" strike="noStrike" kern="1200" cap="none" spc="-5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Commercial Deployment Executive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E7CAB7-9F09-1C76-A5A1-AD22A2EE402D}"/>
              </a:ext>
            </a:extLst>
          </p:cNvPr>
          <p:cNvSpPr txBox="1"/>
          <p:nvPr/>
        </p:nvSpPr>
        <p:spPr>
          <a:xfrm>
            <a:off x="2296357" y="1278970"/>
            <a:ext cx="5208700" cy="338554"/>
          </a:xfrm>
          <a:prstGeom prst="rect">
            <a:avLst/>
          </a:prstGeom>
          <a:solidFill>
            <a:srgbClr val="EAE6E8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12065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299085" algn="l"/>
                <a:tab pos="299720" algn="l"/>
              </a:tabLst>
              <a:defRPr/>
            </a:pPr>
            <a:r>
              <a:rPr kumimoji="0" lang="en-US" sz="1600" b="1" i="0" u="none" strike="noStrike" kern="1200" cap="none" spc="-5" normalizeH="0" baseline="0" noProof="0">
                <a:ln>
                  <a:noFill/>
                </a:ln>
                <a:solidFill>
                  <a:srgbClr val="013A6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Commercial Deployment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13A6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6" name="Picture 5" descr="A red square with a logo&#10;&#10;Description automatically generated">
            <a:extLst>
              <a:ext uri="{FF2B5EF4-FFF2-40B4-BE49-F238E27FC236}">
                <a16:creationId xmlns:a16="http://schemas.microsoft.com/office/drawing/2014/main" id="{93A302C7-A0DC-769A-ED6C-452DD09F9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134" y="80929"/>
            <a:ext cx="637424" cy="6374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4238E9-CF9D-95A2-5DE4-36501D29585B}"/>
              </a:ext>
            </a:extLst>
          </p:cNvPr>
          <p:cNvSpPr txBox="1"/>
          <p:nvPr/>
        </p:nvSpPr>
        <p:spPr>
          <a:xfrm>
            <a:off x="3591186" y="3658938"/>
            <a:ext cx="5208700" cy="505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299085" algn="l"/>
                <a:tab pos="299720" algn="l"/>
              </a:tabLst>
              <a:defRPr/>
            </a:pPr>
            <a:r>
              <a:rPr lang="en-US" sz="1400" b="1" spc="-5">
                <a:solidFill>
                  <a:srgbClr val="013A6F"/>
                </a:solidFill>
                <a:latin typeface="Arial"/>
                <a:cs typeface="Arial"/>
              </a:rPr>
              <a:t>Kevin Alexander</a:t>
            </a:r>
            <a:endParaRPr kumimoji="0" lang="en-US" sz="1400" b="1" i="0" u="none" strike="noStrike" kern="1200" cap="none" spc="-5" normalizeH="0" baseline="0" noProof="0">
              <a:ln>
                <a:noFill/>
              </a:ln>
              <a:solidFill>
                <a:srgbClr val="013A6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065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299085" algn="l"/>
                <a:tab pos="299720" algn="l"/>
              </a:tabLst>
              <a:defRPr/>
            </a:pPr>
            <a:r>
              <a:rPr kumimoji="0" lang="en-US" sz="1200" b="0" i="0" u="none" strike="noStrike" kern="1200" cap="none" spc="-5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Manager Commercial Assets Deployment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16" name="Picture 15" descr="A group of people posing for a photo&#10;&#10;Description automatically generated">
            <a:extLst>
              <a:ext uri="{FF2B5EF4-FFF2-40B4-BE49-F238E27FC236}">
                <a16:creationId xmlns:a16="http://schemas.microsoft.com/office/drawing/2014/main" id="{D1688A3B-0E26-56FF-A7AE-3CB2F34E548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39" t="22987" r="10690" b="46871"/>
          <a:stretch/>
        </p:blipFill>
        <p:spPr>
          <a:xfrm>
            <a:off x="2383443" y="1954981"/>
            <a:ext cx="1080000" cy="1080000"/>
          </a:xfrm>
          <a:prstGeom prst="ellipse">
            <a:avLst/>
          </a:prstGeom>
        </p:spPr>
      </p:pic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9968AA8A-C4DE-2B71-7CEC-9819B9490691}"/>
              </a:ext>
            </a:extLst>
          </p:cNvPr>
          <p:cNvSpPr txBox="1">
            <a:spLocks/>
          </p:cNvSpPr>
          <p:nvPr/>
        </p:nvSpPr>
        <p:spPr>
          <a:xfrm>
            <a:off x="-38100" y="1473905"/>
            <a:ext cx="2114366" cy="4840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Poppins" panose="00000500000000000000" pitchFamily="2" charset="0"/>
                <a:ea typeface="+mn-ea"/>
                <a:cs typeface="Poppins" panose="000005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7800" marR="0" lvl="0" indent="-1778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2F5597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Overview Program</a:t>
            </a:r>
          </a:p>
          <a:p>
            <a:pPr marL="177800" marR="0" lvl="0" indent="-1778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DTE Panel</a:t>
            </a:r>
          </a:p>
          <a:p>
            <a:pPr marL="177800" marR="0" lvl="0" indent="-1778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DTE Mechanics</a:t>
            </a:r>
          </a:p>
          <a:p>
            <a:pPr marL="177800" marR="0" lvl="0" indent="-17780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PIC Program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67CB41-359F-C2A2-0F21-6E56FA2C0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7880" y="3345317"/>
            <a:ext cx="1079086" cy="10546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123AE7-78B4-3662-F986-75FD3423AD06}"/>
              </a:ext>
            </a:extLst>
          </p:cNvPr>
          <p:cNvSpPr txBox="1"/>
          <p:nvPr/>
        </p:nvSpPr>
        <p:spPr>
          <a:xfrm>
            <a:off x="8278850" y="2255172"/>
            <a:ext cx="305941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299085" algn="l"/>
                <a:tab pos="299720" algn="l"/>
              </a:tabLst>
              <a:defRPr/>
            </a:pPr>
            <a:r>
              <a:rPr lang="en-US" sz="1400" b="1" spc="-5">
                <a:solidFill>
                  <a:srgbClr val="013A6F"/>
                </a:solidFill>
                <a:latin typeface="Arial"/>
                <a:cs typeface="Arial"/>
              </a:rPr>
              <a:t>Jessica Cassandra</a:t>
            </a:r>
            <a:br>
              <a:rPr kumimoji="0" lang="en-US" sz="1200" b="0" i="0" u="none" strike="noStrike" kern="1200" cap="none" spc="-5" normalizeH="0" baseline="0" noProof="0">
                <a:ln>
                  <a:noFill/>
                </a:ln>
                <a:solidFill>
                  <a:srgbClr val="013A6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</a:br>
            <a:r>
              <a:rPr kumimoji="0" lang="en-US" sz="1200" b="0" i="0" u="none" strike="noStrike" kern="1200" cap="none" spc="-5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Commercial Deployment Executive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98CA3AE-9CEA-E4E2-EEF4-6DB2574C9D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0" t="9321" r="2686" b="19963"/>
          <a:stretch/>
        </p:blipFill>
        <p:spPr bwMode="auto">
          <a:xfrm>
            <a:off x="7123598" y="1954981"/>
            <a:ext cx="1080000" cy="1081844"/>
          </a:xfrm>
          <a:prstGeom prst="ellipse">
            <a:avLst/>
          </a:prstGeom>
          <a:ln w="2857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254988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de96158-e47d-4b03-8c43-761c27c7c6bd" xsi:nil="true"/>
    <lcf76f155ced4ddcb4097134ff3c332f xmlns="50a2f6a0-8495-4ff9-922b-8d28c9b53c18">
      <Terms xmlns="http://schemas.microsoft.com/office/infopath/2007/PartnerControls"/>
    </lcf76f155ced4ddcb4097134ff3c332f>
    <Files xmlns="50a2f6a0-8495-4ff9-922b-8d28c9b53c1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AA1CE758F1914D9F1B928E439D1EFB" ma:contentTypeVersion="16" ma:contentTypeDescription="Create a new document." ma:contentTypeScope="" ma:versionID="0aba37f638f909737fe2f102e64bf3d3">
  <xsd:schema xmlns:xsd="http://www.w3.org/2001/XMLSchema" xmlns:xs="http://www.w3.org/2001/XMLSchema" xmlns:p="http://schemas.microsoft.com/office/2006/metadata/properties" xmlns:ns2="50a2f6a0-8495-4ff9-922b-8d28c9b53c18" xmlns:ns3="7de96158-e47d-4b03-8c43-761c27c7c6bd" targetNamespace="http://schemas.microsoft.com/office/2006/metadata/properties" ma:root="true" ma:fieldsID="004e0faeb85a2e193c4a8cc251b3106a" ns2:_="" ns3:_="">
    <xsd:import namespace="50a2f6a0-8495-4ff9-922b-8d28c9b53c18"/>
    <xsd:import namespace="7de96158-e47d-4b03-8c43-761c27c7c6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LengthInSeconds" minOccurs="0"/>
                <xsd:element ref="ns2:Fil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a2f6a0-8495-4ff9-922b-8d28c9b53c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4150dd86-af7c-4119-8ddc-903a273d08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Files" ma:index="22" nillable="true" ma:displayName="Files" ma:format="Dropdown" ma:internalName="Files" ma:percentage="FALSE">
      <xsd:simpleType>
        <xsd:restriction base="dms:Number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96158-e47d-4b03-8c43-761c27c7c6bd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cff9e48-dca3-40fd-8467-7bc9f23f5524}" ma:internalName="TaxCatchAll" ma:showField="CatchAllData" ma:web="7de96158-e47d-4b03-8c43-761c27c7c6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99368E-9DAA-4F0A-A0E6-C11B2F1072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431BA8-9BA6-47FB-95BF-8E65DCEA35C1}">
  <ds:schemaRefs>
    <ds:schemaRef ds:uri="6eb4b8f8-dbc5-44ad-89d9-14f5a0a7fa8d"/>
    <ds:schemaRef ds:uri="a2944cb3-ba78-493c-8d99-f9ac262b227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7de96158-e47d-4b03-8c43-761c27c7c6bd"/>
    <ds:schemaRef ds:uri="50a2f6a0-8495-4ff9-922b-8d28c9b53c18"/>
  </ds:schemaRefs>
</ds:datastoreItem>
</file>

<file path=customXml/itemProps3.xml><?xml version="1.0" encoding="utf-8"?>
<ds:datastoreItem xmlns:ds="http://schemas.openxmlformats.org/officeDocument/2006/customXml" ds:itemID="{31265E88-C6FF-4320-BAFD-CCC32BC492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a2f6a0-8495-4ff9-922b-8d28c9b53c18"/>
    <ds:schemaRef ds:uri="7de96158-e47d-4b03-8c43-761c27c7c6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b86a65e-3c3a-4406-8ac3-19a6b5cc52bc}" enabled="0" method="" siteId="{8b86a65e-3c3a-4406-8ac3-19a6b5cc52b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6612</Words>
  <Application>Microsoft Office PowerPoint</Application>
  <PresentationFormat>Widescreen</PresentationFormat>
  <Paragraphs>1395</Paragraphs>
  <Slides>32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Poppins</vt:lpstr>
      <vt:lpstr>Times New Roman</vt:lpstr>
      <vt:lpstr>Wingdings</vt:lpstr>
      <vt:lpstr>1_Office Theme</vt:lpstr>
      <vt:lpstr>Microsoft Excel Binary Worksheet</vt:lpstr>
      <vt:lpstr>PowerPoint Presentation</vt:lpstr>
      <vt:lpstr>DTE Calendar February 2024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PIC Digital Trade Engagement</vt:lpstr>
    </vt:vector>
  </TitlesOfParts>
  <Company>Philip Morris International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Yonatta, Hendry</dc:creator>
  <cp:lastModifiedBy>Cassandra, Jessica</cp:lastModifiedBy>
  <cp:revision>1</cp:revision>
  <dcterms:created xsi:type="dcterms:W3CDTF">2024-01-12T12:04:58Z</dcterms:created>
  <dcterms:modified xsi:type="dcterms:W3CDTF">2025-01-30T06:54:21Z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0x010100DAAA1CE758F1914D9F1B928E439D1EFB</vt:lpwstr>
  </property>
  <property fmtid="{D5CDD505-2E9C-101B-9397-08002B2CF9AE}" pid="3" name="MediaServiceImageTags">
    <vt:lpwstr/>
  </property>
</Properties>
</file>